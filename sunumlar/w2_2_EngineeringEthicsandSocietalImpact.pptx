
<file path=[Content_Types].xml><?xml version="1.0" encoding="utf-8"?>
<Types xmlns="http://schemas.openxmlformats.org/package/2006/content-types">
  <Default Extension="1" ContentType="image/jpeg"/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35" r:id="rId2"/>
  </p:sldMasterIdLst>
  <p:notesMasterIdLst>
    <p:notesMasterId r:id="rId43"/>
  </p:notesMasterIdLst>
  <p:sldIdLst>
    <p:sldId id="256" r:id="rId3"/>
    <p:sldId id="260" r:id="rId4"/>
    <p:sldId id="366" r:id="rId5"/>
    <p:sldId id="368" r:id="rId6"/>
    <p:sldId id="364" r:id="rId7"/>
    <p:sldId id="370" r:id="rId8"/>
    <p:sldId id="261" r:id="rId9"/>
    <p:sldId id="372" r:id="rId10"/>
    <p:sldId id="692" r:id="rId11"/>
    <p:sldId id="401" r:id="rId12"/>
    <p:sldId id="402" r:id="rId13"/>
    <p:sldId id="403" r:id="rId14"/>
    <p:sldId id="404" r:id="rId15"/>
    <p:sldId id="405" r:id="rId16"/>
    <p:sldId id="406" r:id="rId17"/>
    <p:sldId id="487" r:id="rId18"/>
    <p:sldId id="407" r:id="rId19"/>
    <p:sldId id="693" r:id="rId20"/>
    <p:sldId id="494" r:id="rId21"/>
    <p:sldId id="408" r:id="rId22"/>
    <p:sldId id="690" r:id="rId23"/>
    <p:sldId id="691" r:id="rId24"/>
    <p:sldId id="705" r:id="rId25"/>
    <p:sldId id="490" r:id="rId26"/>
    <p:sldId id="505" r:id="rId27"/>
    <p:sldId id="704" r:id="rId28"/>
    <p:sldId id="433" r:id="rId29"/>
    <p:sldId id="419" r:id="rId30"/>
    <p:sldId id="442" r:id="rId31"/>
    <p:sldId id="421" r:id="rId32"/>
    <p:sldId id="493" r:id="rId33"/>
    <p:sldId id="444" r:id="rId34"/>
    <p:sldId id="446" r:id="rId35"/>
    <p:sldId id="453" r:id="rId36"/>
    <p:sldId id="448" r:id="rId37"/>
    <p:sldId id="507" r:id="rId38"/>
    <p:sldId id="516" r:id="rId39"/>
    <p:sldId id="532" r:id="rId40"/>
    <p:sldId id="375" r:id="rId41"/>
    <p:sldId id="680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el Barakat" initials="NB" lastIdx="3" clrIdx="0">
    <p:extLst>
      <p:ext uri="{19B8F6BF-5375-455C-9EA6-DF929625EA0E}">
        <p15:presenceInfo xmlns:p15="http://schemas.microsoft.com/office/powerpoint/2012/main" userId="S::nbarakat@uttyler.edu::e31cc7be-4c7f-45bb-ac45-50d4ccf61f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2DFF2D"/>
    <a:srgbClr val="66FFFF"/>
    <a:srgbClr val="99FF66"/>
    <a:srgbClr val="002060"/>
    <a:srgbClr val="01043D"/>
    <a:srgbClr val="030A91"/>
    <a:srgbClr val="291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CB29FF-E9C9-4E75-9DAD-2A0B6FE0F70D}" type="doc">
      <dgm:prSet loTypeId="urn:microsoft.com/office/officeart/2005/8/layout/venn2" loCatId="relationship" qsTypeId="urn:microsoft.com/office/officeart/2005/8/quickstyle/simple5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3652E24F-FFC8-4704-AB18-46CB80E07808}">
      <dgm:prSet phldrT="[Text]" custT="1"/>
      <dgm:spPr/>
      <dgm:t>
        <a:bodyPr/>
        <a:lstStyle/>
        <a:p>
          <a:r>
            <a:rPr lang="en-US" sz="3600" b="1" dirty="0">
              <a:solidFill>
                <a:srgbClr val="FFFF00"/>
              </a:solidFill>
              <a:latin typeface="Calisto MT" panose="02040603050505030304" pitchFamily="18" charset="0"/>
            </a:rPr>
            <a:t>Globe</a:t>
          </a:r>
        </a:p>
      </dgm:t>
    </dgm:pt>
    <dgm:pt modelId="{028F861B-FB95-4025-891E-837A76D91C93}" type="parTrans" cxnId="{1F9D4B3F-43F0-4029-B49C-736170665A55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7B9D642C-503E-4689-B8BE-9D8DBAA5BEEF}" type="sibTrans" cxnId="{1F9D4B3F-43F0-4029-B49C-736170665A55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5F307BE0-5B50-4CBC-B1F4-0CA3F4B66924}">
      <dgm:prSet phldrT="[Text]" custT="1"/>
      <dgm:spPr/>
      <dgm:t>
        <a:bodyPr/>
        <a:lstStyle/>
        <a:p>
          <a:r>
            <a:rPr lang="en-US" sz="3600" b="1" dirty="0">
              <a:solidFill>
                <a:srgbClr val="C00000"/>
              </a:solidFill>
              <a:latin typeface="Calisto MT" panose="02040603050505030304" pitchFamily="18" charset="0"/>
            </a:rPr>
            <a:t>Society</a:t>
          </a:r>
        </a:p>
      </dgm:t>
    </dgm:pt>
    <dgm:pt modelId="{FE1E3B48-4CD1-4B0A-955C-648BB1EAE1CD}" type="parTrans" cxnId="{26CD3052-A3CA-4C6D-8FE7-DF0DCE054AC4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6BE0614D-0785-4233-8756-0634EDF1BD46}" type="sibTrans" cxnId="{26CD3052-A3CA-4C6D-8FE7-DF0DCE054AC4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61DC4F15-E7B4-4EA4-8C40-5C14968262E0}">
      <dgm:prSet phldrT="[Text]" custT="1"/>
      <dgm:spPr/>
      <dgm:t>
        <a:bodyPr/>
        <a:lstStyle/>
        <a:p>
          <a:r>
            <a:rPr lang="en-US" sz="3600" b="1" dirty="0">
              <a:solidFill>
                <a:srgbClr val="FF0000"/>
              </a:solidFill>
              <a:latin typeface="Calisto MT" panose="02040603050505030304" pitchFamily="18" charset="0"/>
            </a:rPr>
            <a:t>Human</a:t>
          </a:r>
        </a:p>
      </dgm:t>
    </dgm:pt>
    <dgm:pt modelId="{A0030863-FE78-4660-88F7-3EF566D8538A}" type="parTrans" cxnId="{37810EF9-9E2F-4C68-8DDD-CE52083BE35B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AE17E1C7-0195-4C3F-BBE0-A8C1D3DF2ED4}" type="sibTrans" cxnId="{37810EF9-9E2F-4C68-8DDD-CE52083BE35B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152D2B2B-BF77-47B3-AB12-3F9D4309823F}">
      <dgm:prSet phldrT="[Text]" custT="1"/>
      <dgm:spPr/>
      <dgm:t>
        <a:bodyPr/>
        <a:lstStyle/>
        <a:p>
          <a:r>
            <a:rPr lang="en-US" sz="3600" b="1" dirty="0">
              <a:solidFill>
                <a:srgbClr val="002060"/>
              </a:solidFill>
              <a:latin typeface="Calisto MT" panose="02040603050505030304" pitchFamily="18" charset="0"/>
            </a:rPr>
            <a:t>Engineering&amp; Technology</a:t>
          </a:r>
        </a:p>
      </dgm:t>
    </dgm:pt>
    <dgm:pt modelId="{29EEEA6E-D105-4B4C-96B9-F8B88ED99D05}" type="parTrans" cxnId="{05182639-DCCE-4288-A468-A382156AFAAC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F6DE886A-77D3-4FC6-B3C7-BC707C330C61}" type="sibTrans" cxnId="{05182639-DCCE-4288-A468-A382156AFAAC}">
      <dgm:prSet/>
      <dgm:spPr/>
      <dgm:t>
        <a:bodyPr/>
        <a:lstStyle/>
        <a:p>
          <a:endParaRPr lang="en-US" sz="3600" b="1">
            <a:solidFill>
              <a:schemeClr val="tx1">
                <a:lumMod val="10000"/>
                <a:lumOff val="90000"/>
              </a:schemeClr>
            </a:solidFill>
            <a:latin typeface="Calisto MT" panose="02040603050505030304" pitchFamily="18" charset="0"/>
          </a:endParaRPr>
        </a:p>
      </dgm:t>
    </dgm:pt>
    <dgm:pt modelId="{29D437F7-26B7-498B-BED2-FB450114BAE4}" type="pres">
      <dgm:prSet presAssocID="{02CB29FF-E9C9-4E75-9DAD-2A0B6FE0F70D}" presName="Name0" presStyleCnt="0">
        <dgm:presLayoutVars>
          <dgm:chMax val="7"/>
          <dgm:resizeHandles val="exact"/>
        </dgm:presLayoutVars>
      </dgm:prSet>
      <dgm:spPr/>
    </dgm:pt>
    <dgm:pt modelId="{32976E08-A092-4B27-85A4-151CC21A72C0}" type="pres">
      <dgm:prSet presAssocID="{02CB29FF-E9C9-4E75-9DAD-2A0B6FE0F70D}" presName="comp1" presStyleCnt="0"/>
      <dgm:spPr/>
    </dgm:pt>
    <dgm:pt modelId="{FC9FDF7E-5D4D-496C-A392-CAB4E2B2C471}" type="pres">
      <dgm:prSet presAssocID="{02CB29FF-E9C9-4E75-9DAD-2A0B6FE0F70D}" presName="circle1" presStyleLbl="node1" presStyleIdx="0" presStyleCnt="4" custScaleX="159259" custLinFactNeighborX="-118"/>
      <dgm:spPr/>
    </dgm:pt>
    <dgm:pt modelId="{CAB1D4D8-5F8B-4157-B36B-1717BCDF0B9F}" type="pres">
      <dgm:prSet presAssocID="{02CB29FF-E9C9-4E75-9DAD-2A0B6FE0F70D}" presName="c1text" presStyleLbl="node1" presStyleIdx="0" presStyleCnt="4">
        <dgm:presLayoutVars>
          <dgm:bulletEnabled val="1"/>
        </dgm:presLayoutVars>
      </dgm:prSet>
      <dgm:spPr/>
    </dgm:pt>
    <dgm:pt modelId="{1AD08694-44E8-44C6-9759-9ADC92771AF0}" type="pres">
      <dgm:prSet presAssocID="{02CB29FF-E9C9-4E75-9DAD-2A0B6FE0F70D}" presName="comp2" presStyleCnt="0"/>
      <dgm:spPr/>
    </dgm:pt>
    <dgm:pt modelId="{548C612A-8684-4548-AE68-68AD450773CC}" type="pres">
      <dgm:prSet presAssocID="{02CB29FF-E9C9-4E75-9DAD-2A0B6FE0F70D}" presName="circle2" presStyleLbl="node1" presStyleIdx="1" presStyleCnt="4" custScaleX="180556"/>
      <dgm:spPr/>
    </dgm:pt>
    <dgm:pt modelId="{B2DC8460-844C-49A8-8D17-566A4863B537}" type="pres">
      <dgm:prSet presAssocID="{02CB29FF-E9C9-4E75-9DAD-2A0B6FE0F70D}" presName="c2text" presStyleLbl="node1" presStyleIdx="1" presStyleCnt="4">
        <dgm:presLayoutVars>
          <dgm:bulletEnabled val="1"/>
        </dgm:presLayoutVars>
      </dgm:prSet>
      <dgm:spPr/>
    </dgm:pt>
    <dgm:pt modelId="{731E3035-B7A0-40AC-BB4A-2D9ACE6D4D28}" type="pres">
      <dgm:prSet presAssocID="{02CB29FF-E9C9-4E75-9DAD-2A0B6FE0F70D}" presName="comp3" presStyleCnt="0"/>
      <dgm:spPr/>
    </dgm:pt>
    <dgm:pt modelId="{C2EE4EDA-0178-44DD-B0FD-4A1DBF1B7DD2}" type="pres">
      <dgm:prSet presAssocID="{02CB29FF-E9C9-4E75-9DAD-2A0B6FE0F70D}" presName="circle3" presStyleLbl="node1" presStyleIdx="2" presStyleCnt="4" custScaleX="197531"/>
      <dgm:spPr/>
    </dgm:pt>
    <dgm:pt modelId="{9A85AF96-3D13-4F44-847C-4063076E539B}" type="pres">
      <dgm:prSet presAssocID="{02CB29FF-E9C9-4E75-9DAD-2A0B6FE0F70D}" presName="c3text" presStyleLbl="node1" presStyleIdx="2" presStyleCnt="4">
        <dgm:presLayoutVars>
          <dgm:bulletEnabled val="1"/>
        </dgm:presLayoutVars>
      </dgm:prSet>
      <dgm:spPr/>
    </dgm:pt>
    <dgm:pt modelId="{01B3308E-A1BC-4883-93E7-3A9396B31DAE}" type="pres">
      <dgm:prSet presAssocID="{02CB29FF-E9C9-4E75-9DAD-2A0B6FE0F70D}" presName="comp4" presStyleCnt="0"/>
      <dgm:spPr/>
    </dgm:pt>
    <dgm:pt modelId="{BA59E150-030C-4ADC-A5C3-CB68C961480A}" type="pres">
      <dgm:prSet presAssocID="{02CB29FF-E9C9-4E75-9DAD-2A0B6FE0F70D}" presName="circle4" presStyleLbl="node1" presStyleIdx="3" presStyleCnt="4" custScaleX="242764" custScaleY="94414" custLinFactNeighborX="-1" custLinFactNeighborY="1734"/>
      <dgm:spPr/>
    </dgm:pt>
    <dgm:pt modelId="{7C503011-2239-49EC-AD2E-44570CE5FDC1}" type="pres">
      <dgm:prSet presAssocID="{02CB29FF-E9C9-4E75-9DAD-2A0B6FE0F70D}" presName="c4text" presStyleLbl="node1" presStyleIdx="3" presStyleCnt="4">
        <dgm:presLayoutVars>
          <dgm:bulletEnabled val="1"/>
        </dgm:presLayoutVars>
      </dgm:prSet>
      <dgm:spPr/>
    </dgm:pt>
  </dgm:ptLst>
  <dgm:cxnLst>
    <dgm:cxn modelId="{94F30B03-E5CB-42C2-B94B-09E37726AD4D}" type="presOf" srcId="{3652E24F-FFC8-4704-AB18-46CB80E07808}" destId="{FC9FDF7E-5D4D-496C-A392-CAB4E2B2C471}" srcOrd="0" destOrd="0" presId="urn:microsoft.com/office/officeart/2005/8/layout/venn2"/>
    <dgm:cxn modelId="{05182639-DCCE-4288-A468-A382156AFAAC}" srcId="{02CB29FF-E9C9-4E75-9DAD-2A0B6FE0F70D}" destId="{152D2B2B-BF77-47B3-AB12-3F9D4309823F}" srcOrd="3" destOrd="0" parTransId="{29EEEA6E-D105-4B4C-96B9-F8B88ED99D05}" sibTransId="{F6DE886A-77D3-4FC6-B3C7-BC707C330C61}"/>
    <dgm:cxn modelId="{1F9D4B3F-43F0-4029-B49C-736170665A55}" srcId="{02CB29FF-E9C9-4E75-9DAD-2A0B6FE0F70D}" destId="{3652E24F-FFC8-4704-AB18-46CB80E07808}" srcOrd="0" destOrd="0" parTransId="{028F861B-FB95-4025-891E-837A76D91C93}" sibTransId="{7B9D642C-503E-4689-B8BE-9D8DBAA5BEEF}"/>
    <dgm:cxn modelId="{8E537B70-E6CD-44D3-A047-C6BD6E15D1E9}" type="presOf" srcId="{5F307BE0-5B50-4CBC-B1F4-0CA3F4B66924}" destId="{B2DC8460-844C-49A8-8D17-566A4863B537}" srcOrd="1" destOrd="0" presId="urn:microsoft.com/office/officeart/2005/8/layout/venn2"/>
    <dgm:cxn modelId="{26CD3052-A3CA-4C6D-8FE7-DF0DCE054AC4}" srcId="{02CB29FF-E9C9-4E75-9DAD-2A0B6FE0F70D}" destId="{5F307BE0-5B50-4CBC-B1F4-0CA3F4B66924}" srcOrd="1" destOrd="0" parTransId="{FE1E3B48-4CD1-4B0A-955C-648BB1EAE1CD}" sibTransId="{6BE0614D-0785-4233-8756-0634EDF1BD46}"/>
    <dgm:cxn modelId="{8F712999-744F-455C-B232-6C7EE0A0C6D7}" type="presOf" srcId="{152D2B2B-BF77-47B3-AB12-3F9D4309823F}" destId="{BA59E150-030C-4ADC-A5C3-CB68C961480A}" srcOrd="0" destOrd="0" presId="urn:microsoft.com/office/officeart/2005/8/layout/venn2"/>
    <dgm:cxn modelId="{574FC3A1-72A2-47C4-B038-6630368B2CA6}" type="presOf" srcId="{61DC4F15-E7B4-4EA4-8C40-5C14968262E0}" destId="{9A85AF96-3D13-4F44-847C-4063076E539B}" srcOrd="1" destOrd="0" presId="urn:microsoft.com/office/officeart/2005/8/layout/venn2"/>
    <dgm:cxn modelId="{F90DD5B5-EC8D-4EC8-8B0C-C96D4039AA05}" type="presOf" srcId="{3652E24F-FFC8-4704-AB18-46CB80E07808}" destId="{CAB1D4D8-5F8B-4157-B36B-1717BCDF0B9F}" srcOrd="1" destOrd="0" presId="urn:microsoft.com/office/officeart/2005/8/layout/venn2"/>
    <dgm:cxn modelId="{801A62BA-D504-4062-A669-48D4564B1676}" type="presOf" srcId="{5F307BE0-5B50-4CBC-B1F4-0CA3F4B66924}" destId="{548C612A-8684-4548-AE68-68AD450773CC}" srcOrd="0" destOrd="0" presId="urn:microsoft.com/office/officeart/2005/8/layout/venn2"/>
    <dgm:cxn modelId="{70D396D6-C88C-4B68-81A9-BD23B0BA5320}" type="presOf" srcId="{61DC4F15-E7B4-4EA4-8C40-5C14968262E0}" destId="{C2EE4EDA-0178-44DD-B0FD-4A1DBF1B7DD2}" srcOrd="0" destOrd="0" presId="urn:microsoft.com/office/officeart/2005/8/layout/venn2"/>
    <dgm:cxn modelId="{6BA54FD7-04F6-49BA-A109-FE0C3C299CB0}" type="presOf" srcId="{02CB29FF-E9C9-4E75-9DAD-2A0B6FE0F70D}" destId="{29D437F7-26B7-498B-BED2-FB450114BAE4}" srcOrd="0" destOrd="0" presId="urn:microsoft.com/office/officeart/2005/8/layout/venn2"/>
    <dgm:cxn modelId="{8FA9E4F5-71DB-4758-875C-29C98E276C76}" type="presOf" srcId="{152D2B2B-BF77-47B3-AB12-3F9D4309823F}" destId="{7C503011-2239-49EC-AD2E-44570CE5FDC1}" srcOrd="1" destOrd="0" presId="urn:microsoft.com/office/officeart/2005/8/layout/venn2"/>
    <dgm:cxn modelId="{37810EF9-9E2F-4C68-8DDD-CE52083BE35B}" srcId="{02CB29FF-E9C9-4E75-9DAD-2A0B6FE0F70D}" destId="{61DC4F15-E7B4-4EA4-8C40-5C14968262E0}" srcOrd="2" destOrd="0" parTransId="{A0030863-FE78-4660-88F7-3EF566D8538A}" sibTransId="{AE17E1C7-0195-4C3F-BBE0-A8C1D3DF2ED4}"/>
    <dgm:cxn modelId="{652612CF-2C54-4673-8A72-B90617F07C48}" type="presParOf" srcId="{29D437F7-26B7-498B-BED2-FB450114BAE4}" destId="{32976E08-A092-4B27-85A4-151CC21A72C0}" srcOrd="0" destOrd="0" presId="urn:microsoft.com/office/officeart/2005/8/layout/venn2"/>
    <dgm:cxn modelId="{C6331699-D9FC-4B15-9CC3-B5DE47DB8FAE}" type="presParOf" srcId="{32976E08-A092-4B27-85A4-151CC21A72C0}" destId="{FC9FDF7E-5D4D-496C-A392-CAB4E2B2C471}" srcOrd="0" destOrd="0" presId="urn:microsoft.com/office/officeart/2005/8/layout/venn2"/>
    <dgm:cxn modelId="{4116FE9E-E92F-43F3-A68E-2BFADC770041}" type="presParOf" srcId="{32976E08-A092-4B27-85A4-151CC21A72C0}" destId="{CAB1D4D8-5F8B-4157-B36B-1717BCDF0B9F}" srcOrd="1" destOrd="0" presId="urn:microsoft.com/office/officeart/2005/8/layout/venn2"/>
    <dgm:cxn modelId="{18E02789-67A8-457C-A366-371DFC9568E2}" type="presParOf" srcId="{29D437F7-26B7-498B-BED2-FB450114BAE4}" destId="{1AD08694-44E8-44C6-9759-9ADC92771AF0}" srcOrd="1" destOrd="0" presId="urn:microsoft.com/office/officeart/2005/8/layout/venn2"/>
    <dgm:cxn modelId="{678C5566-6376-435D-8543-ABB4D3120A2E}" type="presParOf" srcId="{1AD08694-44E8-44C6-9759-9ADC92771AF0}" destId="{548C612A-8684-4548-AE68-68AD450773CC}" srcOrd="0" destOrd="0" presId="urn:microsoft.com/office/officeart/2005/8/layout/venn2"/>
    <dgm:cxn modelId="{69EEDFAE-E759-4C54-8624-488240A19BE4}" type="presParOf" srcId="{1AD08694-44E8-44C6-9759-9ADC92771AF0}" destId="{B2DC8460-844C-49A8-8D17-566A4863B537}" srcOrd="1" destOrd="0" presId="urn:microsoft.com/office/officeart/2005/8/layout/venn2"/>
    <dgm:cxn modelId="{BC0AEFBE-9466-4C2C-8B65-58FEEEC8E56F}" type="presParOf" srcId="{29D437F7-26B7-498B-BED2-FB450114BAE4}" destId="{731E3035-B7A0-40AC-BB4A-2D9ACE6D4D28}" srcOrd="2" destOrd="0" presId="urn:microsoft.com/office/officeart/2005/8/layout/venn2"/>
    <dgm:cxn modelId="{737B30B2-DE30-4F50-AE2C-EB98A924F330}" type="presParOf" srcId="{731E3035-B7A0-40AC-BB4A-2D9ACE6D4D28}" destId="{C2EE4EDA-0178-44DD-B0FD-4A1DBF1B7DD2}" srcOrd="0" destOrd="0" presId="urn:microsoft.com/office/officeart/2005/8/layout/venn2"/>
    <dgm:cxn modelId="{8DA83DF9-B3CD-47CA-BE36-8C58B64D321B}" type="presParOf" srcId="{731E3035-B7A0-40AC-BB4A-2D9ACE6D4D28}" destId="{9A85AF96-3D13-4F44-847C-4063076E539B}" srcOrd="1" destOrd="0" presId="urn:microsoft.com/office/officeart/2005/8/layout/venn2"/>
    <dgm:cxn modelId="{E3548EAF-4557-4C0E-A94E-B639D54B34E0}" type="presParOf" srcId="{29D437F7-26B7-498B-BED2-FB450114BAE4}" destId="{01B3308E-A1BC-4883-93E7-3A9396B31DAE}" srcOrd="3" destOrd="0" presId="urn:microsoft.com/office/officeart/2005/8/layout/venn2"/>
    <dgm:cxn modelId="{F8D447E1-6E6E-4025-963F-ED6F710B18C7}" type="presParOf" srcId="{01B3308E-A1BC-4883-93E7-3A9396B31DAE}" destId="{BA59E150-030C-4ADC-A5C3-CB68C961480A}" srcOrd="0" destOrd="0" presId="urn:microsoft.com/office/officeart/2005/8/layout/venn2"/>
    <dgm:cxn modelId="{D08D6767-9376-4FC5-8B72-C1DAD1F12259}" type="presParOf" srcId="{01B3308E-A1BC-4883-93E7-3A9396B31DAE}" destId="{7C503011-2239-49EC-AD2E-44570CE5FDC1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25BDCD-9E47-42F9-8683-50766EE40B52}" type="doc">
      <dgm:prSet loTypeId="urn:microsoft.com/office/officeart/2005/8/layout/hierarchy4" loCatId="hierarchy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B62D5296-E76B-42AD-AE56-DF49F88B6A2B}">
      <dgm:prSet phldrT="[Text]" custT="1"/>
      <dgm:spPr>
        <a:solidFill>
          <a:srgbClr val="01043D"/>
        </a:solidFill>
      </dgm:spPr>
      <dgm:t>
        <a:bodyPr/>
        <a:lstStyle/>
        <a:p>
          <a:r>
            <a:rPr lang="en-US" sz="6000" b="1" dirty="0">
              <a:latin typeface="Britannic Bold" panose="020B0903060703020204" pitchFamily="34" charset="0"/>
            </a:rPr>
            <a:t>RESULTS</a:t>
          </a:r>
        </a:p>
      </dgm:t>
    </dgm:pt>
    <dgm:pt modelId="{9966DFE4-F573-407E-920A-3B319377E30C}" type="parTrans" cxnId="{6F15DB3B-9654-4375-977A-3A6AE65CD114}">
      <dgm:prSet/>
      <dgm:spPr/>
      <dgm:t>
        <a:bodyPr/>
        <a:lstStyle/>
        <a:p>
          <a:endParaRPr lang="en-US"/>
        </a:p>
      </dgm:t>
    </dgm:pt>
    <dgm:pt modelId="{BF3B987A-3ABA-4331-8E3B-71F46B0CE47A}" type="sibTrans" cxnId="{6F15DB3B-9654-4375-977A-3A6AE65CD114}">
      <dgm:prSet/>
      <dgm:spPr/>
      <dgm:t>
        <a:bodyPr/>
        <a:lstStyle/>
        <a:p>
          <a:endParaRPr lang="en-US"/>
        </a:p>
      </dgm:t>
    </dgm:pt>
    <dgm:pt modelId="{10C87A89-A409-467B-9C3D-5FCC5BC6F755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>
            <a:buClr>
              <a:schemeClr val="accent2"/>
            </a:buClr>
            <a:buSzPct val="80000"/>
            <a:buFont typeface="Wingdings" pitchFamily="2" charset="2"/>
            <a:buChar char="l"/>
          </a:pPr>
          <a:r>
            <a: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Engineering projects are </a:t>
          </a:r>
          <a:r>
            <a:rPr 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social experiments</a:t>
          </a:r>
          <a:r>
            <a: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requiring morally responsible engineering behavior</a:t>
          </a:r>
          <a:endParaRPr lang="en-US" dirty="0">
            <a:solidFill>
              <a:schemeClr val="bg1"/>
            </a:solidFill>
          </a:endParaRPr>
        </a:p>
      </dgm:t>
    </dgm:pt>
    <dgm:pt modelId="{07950860-6600-4EFB-90EA-E7E0ADCFB30D}" type="parTrans" cxnId="{C77334DC-E067-45F1-B248-6214E9DE24EA}">
      <dgm:prSet/>
      <dgm:spPr/>
      <dgm:t>
        <a:bodyPr/>
        <a:lstStyle/>
        <a:p>
          <a:endParaRPr lang="en-US"/>
        </a:p>
      </dgm:t>
    </dgm:pt>
    <dgm:pt modelId="{B332E3A5-2523-4AAB-B300-5F93D4A484EE}" type="sibTrans" cxnId="{C77334DC-E067-45F1-B248-6214E9DE24EA}">
      <dgm:prSet/>
      <dgm:spPr/>
      <dgm:t>
        <a:bodyPr/>
        <a:lstStyle/>
        <a:p>
          <a:endParaRPr lang="en-US"/>
        </a:p>
      </dgm:t>
    </dgm:pt>
    <dgm:pt modelId="{C4536FEF-7A10-460E-8FF7-57D70E1C0C91}">
      <dgm:prSet phldrT="[Text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>
            <a:buClr>
              <a:schemeClr val="accent2"/>
            </a:buClr>
            <a:buSzPct val="80000"/>
          </a:pPr>
          <a:r>
            <a: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Engineers have a responsibility for protecting the safety and well-being of the </a:t>
          </a:r>
          <a:r>
            <a:rPr 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public</a:t>
          </a:r>
          <a:r>
            <a: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>
            <a:buClr>
              <a:schemeClr val="accent2"/>
            </a:buClr>
            <a:buSzPct val="80000"/>
          </a:pPr>
          <a:r>
            <a: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Implicit Social Contract</a:t>
          </a:r>
          <a:r>
            <a: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dirty="0">
            <a:solidFill>
              <a:srgbClr val="C00000"/>
            </a:solidFill>
          </a:endParaRPr>
        </a:p>
      </dgm:t>
    </dgm:pt>
    <dgm:pt modelId="{07A00839-EBF4-402A-814E-CF07AB50BD5C}" type="parTrans" cxnId="{8496CED7-30E5-4868-9DEB-4C79E683317D}">
      <dgm:prSet/>
      <dgm:spPr/>
      <dgm:t>
        <a:bodyPr/>
        <a:lstStyle/>
        <a:p>
          <a:endParaRPr lang="en-US"/>
        </a:p>
      </dgm:t>
    </dgm:pt>
    <dgm:pt modelId="{59F63F49-4518-4A0F-AA7C-6C83AA102052}" type="sibTrans" cxnId="{8496CED7-30E5-4868-9DEB-4C79E683317D}">
      <dgm:prSet/>
      <dgm:spPr/>
      <dgm:t>
        <a:bodyPr/>
        <a:lstStyle/>
        <a:p>
          <a:endParaRPr lang="en-US"/>
        </a:p>
      </dgm:t>
    </dgm:pt>
    <dgm:pt modelId="{8254D3F4-9AF7-4FCF-A9D3-4BF472198CC5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>
            <a:buClr>
              <a:schemeClr val="accent2"/>
            </a:buClr>
            <a:buSzPct val="80000"/>
            <a:buFont typeface="Wingdings" pitchFamily="2" charset="2"/>
            <a:buChar char="l"/>
          </a:pPr>
          <a:r>
            <a: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Engineers have also the responsibility for guarding and advancing their </a:t>
          </a:r>
          <a:r>
            <a:rPr 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profession</a:t>
          </a:r>
          <a:endParaRPr lang="en-US" dirty="0">
            <a:solidFill>
              <a:srgbClr val="FF0000"/>
            </a:solidFill>
          </a:endParaRPr>
        </a:p>
      </dgm:t>
    </dgm:pt>
    <dgm:pt modelId="{2A98915D-920A-4CA6-B8B5-9D78B58C3BFB}" type="parTrans" cxnId="{CE3F2C7F-9632-4C98-8CED-522B50E4E035}">
      <dgm:prSet/>
      <dgm:spPr/>
      <dgm:t>
        <a:bodyPr/>
        <a:lstStyle/>
        <a:p>
          <a:endParaRPr lang="en-US"/>
        </a:p>
      </dgm:t>
    </dgm:pt>
    <dgm:pt modelId="{DE9A2E2E-A582-4AAB-95FE-838FE1A49269}" type="sibTrans" cxnId="{CE3F2C7F-9632-4C98-8CED-522B50E4E035}">
      <dgm:prSet/>
      <dgm:spPr/>
      <dgm:t>
        <a:bodyPr/>
        <a:lstStyle/>
        <a:p>
          <a:endParaRPr lang="en-US"/>
        </a:p>
      </dgm:t>
    </dgm:pt>
    <dgm:pt modelId="{8732A4F3-979F-46C6-A634-9D0F319BDCDD}" type="pres">
      <dgm:prSet presAssocID="{6825BDCD-9E47-42F9-8683-50766EE40B5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668480-B415-477B-B7DB-97058505A19F}" type="pres">
      <dgm:prSet presAssocID="{B62D5296-E76B-42AD-AE56-DF49F88B6A2B}" presName="vertOne" presStyleCnt="0"/>
      <dgm:spPr/>
    </dgm:pt>
    <dgm:pt modelId="{CA232DF5-2C1E-4A21-816E-F454BB066DA6}" type="pres">
      <dgm:prSet presAssocID="{B62D5296-E76B-42AD-AE56-DF49F88B6A2B}" presName="txOne" presStyleLbl="node0" presStyleIdx="0" presStyleCnt="1" custScaleY="30997" custLinFactNeighborX="-449" custLinFactNeighborY="-5213">
        <dgm:presLayoutVars>
          <dgm:chPref val="3"/>
        </dgm:presLayoutVars>
      </dgm:prSet>
      <dgm:spPr/>
    </dgm:pt>
    <dgm:pt modelId="{6B909A8F-3096-439A-A04F-C626289DDE52}" type="pres">
      <dgm:prSet presAssocID="{B62D5296-E76B-42AD-AE56-DF49F88B6A2B}" presName="parTransOne" presStyleCnt="0"/>
      <dgm:spPr/>
    </dgm:pt>
    <dgm:pt modelId="{23C58ABC-1A7F-4913-A5D0-488EFFB2F604}" type="pres">
      <dgm:prSet presAssocID="{B62D5296-E76B-42AD-AE56-DF49F88B6A2B}" presName="horzOne" presStyleCnt="0"/>
      <dgm:spPr/>
    </dgm:pt>
    <dgm:pt modelId="{BADA5DA1-C767-41F1-8CEB-2D38E1E6CD9D}" type="pres">
      <dgm:prSet presAssocID="{10C87A89-A409-467B-9C3D-5FCC5BC6F755}" presName="vertTwo" presStyleCnt="0"/>
      <dgm:spPr/>
    </dgm:pt>
    <dgm:pt modelId="{CF9FF178-8A03-4268-A58C-699B04DE1AE6}" type="pres">
      <dgm:prSet presAssocID="{10C87A89-A409-467B-9C3D-5FCC5BC6F755}" presName="txTwo" presStyleLbl="node2" presStyleIdx="0" presStyleCnt="3" custScaleX="102457" custScaleY="123456" custLinFactNeighborX="-670">
        <dgm:presLayoutVars>
          <dgm:chPref val="3"/>
        </dgm:presLayoutVars>
      </dgm:prSet>
      <dgm:spPr/>
    </dgm:pt>
    <dgm:pt modelId="{73DA9A5F-3BD6-49E7-890D-AB719D2C6B49}" type="pres">
      <dgm:prSet presAssocID="{10C87A89-A409-467B-9C3D-5FCC5BC6F755}" presName="horzTwo" presStyleCnt="0"/>
      <dgm:spPr/>
    </dgm:pt>
    <dgm:pt modelId="{F29CFCD6-8789-41F4-9EA7-77ACBDA75555}" type="pres">
      <dgm:prSet presAssocID="{B332E3A5-2523-4AAB-B300-5F93D4A484EE}" presName="sibSpaceTwo" presStyleCnt="0"/>
      <dgm:spPr/>
    </dgm:pt>
    <dgm:pt modelId="{42E5C111-C622-4FD2-AE79-BB4EC3976C4D}" type="pres">
      <dgm:prSet presAssocID="{C4536FEF-7A10-460E-8FF7-57D70E1C0C91}" presName="vertTwo" presStyleCnt="0"/>
      <dgm:spPr/>
    </dgm:pt>
    <dgm:pt modelId="{D0009668-6DE2-4CF4-8D1C-F209EE56B56F}" type="pres">
      <dgm:prSet presAssocID="{C4536FEF-7A10-460E-8FF7-57D70E1C0C91}" presName="txTwo" presStyleLbl="node2" presStyleIdx="1" presStyleCnt="3" custScaleX="102457" custScaleY="123456" custLinFactNeighborX="1169">
        <dgm:presLayoutVars>
          <dgm:chPref val="3"/>
        </dgm:presLayoutVars>
      </dgm:prSet>
      <dgm:spPr/>
    </dgm:pt>
    <dgm:pt modelId="{1A403DC7-7C85-4BA9-94AC-A11E01336273}" type="pres">
      <dgm:prSet presAssocID="{C4536FEF-7A10-460E-8FF7-57D70E1C0C91}" presName="horzTwo" presStyleCnt="0"/>
      <dgm:spPr/>
    </dgm:pt>
    <dgm:pt modelId="{FBB0943E-D08F-41D8-9955-2E7A020960C3}" type="pres">
      <dgm:prSet presAssocID="{59F63F49-4518-4A0F-AA7C-6C83AA102052}" presName="sibSpaceTwo" presStyleCnt="0"/>
      <dgm:spPr/>
    </dgm:pt>
    <dgm:pt modelId="{1C94109B-9974-4240-B2D5-03DC6EA0A5B0}" type="pres">
      <dgm:prSet presAssocID="{8254D3F4-9AF7-4FCF-A9D3-4BF472198CC5}" presName="vertTwo" presStyleCnt="0"/>
      <dgm:spPr/>
    </dgm:pt>
    <dgm:pt modelId="{E356F199-CDC8-4681-BCD2-EC7F8A942AD5}" type="pres">
      <dgm:prSet presAssocID="{8254D3F4-9AF7-4FCF-A9D3-4BF472198CC5}" presName="txTwo" presStyleLbl="node2" presStyleIdx="2" presStyleCnt="3" custScaleX="102457" custScaleY="123456" custLinFactNeighborX="1169">
        <dgm:presLayoutVars>
          <dgm:chPref val="3"/>
        </dgm:presLayoutVars>
      </dgm:prSet>
      <dgm:spPr/>
    </dgm:pt>
    <dgm:pt modelId="{50A14BBF-8201-4733-A1AE-CA34361F4597}" type="pres">
      <dgm:prSet presAssocID="{8254D3F4-9AF7-4FCF-A9D3-4BF472198CC5}" presName="horzTwo" presStyleCnt="0"/>
      <dgm:spPr/>
    </dgm:pt>
  </dgm:ptLst>
  <dgm:cxnLst>
    <dgm:cxn modelId="{2069EA15-169F-4CB5-ADE6-F252BDCAA277}" type="presOf" srcId="{8254D3F4-9AF7-4FCF-A9D3-4BF472198CC5}" destId="{E356F199-CDC8-4681-BCD2-EC7F8A942AD5}" srcOrd="0" destOrd="0" presId="urn:microsoft.com/office/officeart/2005/8/layout/hierarchy4"/>
    <dgm:cxn modelId="{BC0B6228-5112-4435-82FA-F3320EB85991}" type="presOf" srcId="{C4536FEF-7A10-460E-8FF7-57D70E1C0C91}" destId="{D0009668-6DE2-4CF4-8D1C-F209EE56B56F}" srcOrd="0" destOrd="0" presId="urn:microsoft.com/office/officeart/2005/8/layout/hierarchy4"/>
    <dgm:cxn modelId="{D016253A-F23D-4497-AFAD-5A7595F29119}" type="presOf" srcId="{6825BDCD-9E47-42F9-8683-50766EE40B52}" destId="{8732A4F3-979F-46C6-A634-9D0F319BDCDD}" srcOrd="0" destOrd="0" presId="urn:microsoft.com/office/officeart/2005/8/layout/hierarchy4"/>
    <dgm:cxn modelId="{6F15DB3B-9654-4375-977A-3A6AE65CD114}" srcId="{6825BDCD-9E47-42F9-8683-50766EE40B52}" destId="{B62D5296-E76B-42AD-AE56-DF49F88B6A2B}" srcOrd="0" destOrd="0" parTransId="{9966DFE4-F573-407E-920A-3B319377E30C}" sibTransId="{BF3B987A-3ABA-4331-8E3B-71F46B0CE47A}"/>
    <dgm:cxn modelId="{23D8214C-CF3E-4E03-B88C-880E0097F77B}" type="presOf" srcId="{B62D5296-E76B-42AD-AE56-DF49F88B6A2B}" destId="{CA232DF5-2C1E-4A21-816E-F454BB066DA6}" srcOrd="0" destOrd="0" presId="urn:microsoft.com/office/officeart/2005/8/layout/hierarchy4"/>
    <dgm:cxn modelId="{CFB64257-C7C6-4311-B154-4A06E114F714}" type="presOf" srcId="{10C87A89-A409-467B-9C3D-5FCC5BC6F755}" destId="{CF9FF178-8A03-4268-A58C-699B04DE1AE6}" srcOrd="0" destOrd="0" presId="urn:microsoft.com/office/officeart/2005/8/layout/hierarchy4"/>
    <dgm:cxn modelId="{CE3F2C7F-9632-4C98-8CED-522B50E4E035}" srcId="{B62D5296-E76B-42AD-AE56-DF49F88B6A2B}" destId="{8254D3F4-9AF7-4FCF-A9D3-4BF472198CC5}" srcOrd="2" destOrd="0" parTransId="{2A98915D-920A-4CA6-B8B5-9D78B58C3BFB}" sibTransId="{DE9A2E2E-A582-4AAB-95FE-838FE1A49269}"/>
    <dgm:cxn modelId="{8496CED7-30E5-4868-9DEB-4C79E683317D}" srcId="{B62D5296-E76B-42AD-AE56-DF49F88B6A2B}" destId="{C4536FEF-7A10-460E-8FF7-57D70E1C0C91}" srcOrd="1" destOrd="0" parTransId="{07A00839-EBF4-402A-814E-CF07AB50BD5C}" sibTransId="{59F63F49-4518-4A0F-AA7C-6C83AA102052}"/>
    <dgm:cxn modelId="{C77334DC-E067-45F1-B248-6214E9DE24EA}" srcId="{B62D5296-E76B-42AD-AE56-DF49F88B6A2B}" destId="{10C87A89-A409-467B-9C3D-5FCC5BC6F755}" srcOrd="0" destOrd="0" parTransId="{07950860-6600-4EFB-90EA-E7E0ADCFB30D}" sibTransId="{B332E3A5-2523-4AAB-B300-5F93D4A484EE}"/>
    <dgm:cxn modelId="{3D80A70B-8628-4F72-99F0-4B6566784953}" type="presParOf" srcId="{8732A4F3-979F-46C6-A634-9D0F319BDCDD}" destId="{76668480-B415-477B-B7DB-97058505A19F}" srcOrd="0" destOrd="0" presId="urn:microsoft.com/office/officeart/2005/8/layout/hierarchy4"/>
    <dgm:cxn modelId="{70EA070B-0628-42DA-B9BE-7B47652599F4}" type="presParOf" srcId="{76668480-B415-477B-B7DB-97058505A19F}" destId="{CA232DF5-2C1E-4A21-816E-F454BB066DA6}" srcOrd="0" destOrd="0" presId="urn:microsoft.com/office/officeart/2005/8/layout/hierarchy4"/>
    <dgm:cxn modelId="{6404F7E8-F33C-4C4E-9D9C-8FD499548FA9}" type="presParOf" srcId="{76668480-B415-477B-B7DB-97058505A19F}" destId="{6B909A8F-3096-439A-A04F-C626289DDE52}" srcOrd="1" destOrd="0" presId="urn:microsoft.com/office/officeart/2005/8/layout/hierarchy4"/>
    <dgm:cxn modelId="{3FE9CCFA-AE25-4964-A11D-B09BD08FA3A2}" type="presParOf" srcId="{76668480-B415-477B-B7DB-97058505A19F}" destId="{23C58ABC-1A7F-4913-A5D0-488EFFB2F604}" srcOrd="2" destOrd="0" presId="urn:microsoft.com/office/officeart/2005/8/layout/hierarchy4"/>
    <dgm:cxn modelId="{9101EA9F-A90A-4DA9-8BFD-B530C496EEC6}" type="presParOf" srcId="{23C58ABC-1A7F-4913-A5D0-488EFFB2F604}" destId="{BADA5DA1-C767-41F1-8CEB-2D38E1E6CD9D}" srcOrd="0" destOrd="0" presId="urn:microsoft.com/office/officeart/2005/8/layout/hierarchy4"/>
    <dgm:cxn modelId="{94C9B661-123C-483D-A76E-6BC9F1CDB5A7}" type="presParOf" srcId="{BADA5DA1-C767-41F1-8CEB-2D38E1E6CD9D}" destId="{CF9FF178-8A03-4268-A58C-699B04DE1AE6}" srcOrd="0" destOrd="0" presId="urn:microsoft.com/office/officeart/2005/8/layout/hierarchy4"/>
    <dgm:cxn modelId="{239ED0B5-0EB2-42EC-ACE6-CE3DD91F611E}" type="presParOf" srcId="{BADA5DA1-C767-41F1-8CEB-2D38E1E6CD9D}" destId="{73DA9A5F-3BD6-49E7-890D-AB719D2C6B49}" srcOrd="1" destOrd="0" presId="urn:microsoft.com/office/officeart/2005/8/layout/hierarchy4"/>
    <dgm:cxn modelId="{27AE9D09-1C91-4723-AFC3-3D16C28A7EBB}" type="presParOf" srcId="{23C58ABC-1A7F-4913-A5D0-488EFFB2F604}" destId="{F29CFCD6-8789-41F4-9EA7-77ACBDA75555}" srcOrd="1" destOrd="0" presId="urn:microsoft.com/office/officeart/2005/8/layout/hierarchy4"/>
    <dgm:cxn modelId="{88377868-0E96-492B-9F89-DDE91C32CDE0}" type="presParOf" srcId="{23C58ABC-1A7F-4913-A5D0-488EFFB2F604}" destId="{42E5C111-C622-4FD2-AE79-BB4EC3976C4D}" srcOrd="2" destOrd="0" presId="urn:microsoft.com/office/officeart/2005/8/layout/hierarchy4"/>
    <dgm:cxn modelId="{B0C0EA18-DB52-464D-BFB5-D1036479BE70}" type="presParOf" srcId="{42E5C111-C622-4FD2-AE79-BB4EC3976C4D}" destId="{D0009668-6DE2-4CF4-8D1C-F209EE56B56F}" srcOrd="0" destOrd="0" presId="urn:microsoft.com/office/officeart/2005/8/layout/hierarchy4"/>
    <dgm:cxn modelId="{7F7E3CE8-EFA7-4581-B3C1-1E7A554278DB}" type="presParOf" srcId="{42E5C111-C622-4FD2-AE79-BB4EC3976C4D}" destId="{1A403DC7-7C85-4BA9-94AC-A11E01336273}" srcOrd="1" destOrd="0" presId="urn:microsoft.com/office/officeart/2005/8/layout/hierarchy4"/>
    <dgm:cxn modelId="{FD10E50E-B812-4D7C-8A3F-046AAB61B2A4}" type="presParOf" srcId="{23C58ABC-1A7F-4913-A5D0-488EFFB2F604}" destId="{FBB0943E-D08F-41D8-9955-2E7A020960C3}" srcOrd="3" destOrd="0" presId="urn:microsoft.com/office/officeart/2005/8/layout/hierarchy4"/>
    <dgm:cxn modelId="{39CCA2E9-243D-43B0-BC57-DD062B312C0E}" type="presParOf" srcId="{23C58ABC-1A7F-4913-A5D0-488EFFB2F604}" destId="{1C94109B-9974-4240-B2D5-03DC6EA0A5B0}" srcOrd="4" destOrd="0" presId="urn:microsoft.com/office/officeart/2005/8/layout/hierarchy4"/>
    <dgm:cxn modelId="{6A874E14-9F59-4168-A949-7502E88B5162}" type="presParOf" srcId="{1C94109B-9974-4240-B2D5-03DC6EA0A5B0}" destId="{E356F199-CDC8-4681-BCD2-EC7F8A942AD5}" srcOrd="0" destOrd="0" presId="urn:microsoft.com/office/officeart/2005/8/layout/hierarchy4"/>
    <dgm:cxn modelId="{5D53D0CF-2931-48DA-AF4D-BFADAAEA883B}" type="presParOf" srcId="{1C94109B-9974-4240-B2D5-03DC6EA0A5B0}" destId="{50A14BBF-8201-4733-A1AE-CA34361F459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25BDCD-9E47-42F9-8683-50766EE40B52}" type="doc">
      <dgm:prSet loTypeId="urn:microsoft.com/office/officeart/2005/8/layout/hierarchy4" loCatId="hierarchy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B62D5296-E76B-42AD-AE56-DF49F88B6A2B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6000" b="1" dirty="0">
              <a:latin typeface="Britannic Bold" panose="020B0903060703020204" pitchFamily="34" charset="0"/>
            </a:rPr>
            <a:t>RECIPROCAL INFLUENCE</a:t>
          </a:r>
        </a:p>
      </dgm:t>
    </dgm:pt>
    <dgm:pt modelId="{9966DFE4-F573-407E-920A-3B319377E30C}" type="parTrans" cxnId="{6F15DB3B-9654-4375-977A-3A6AE65CD114}">
      <dgm:prSet/>
      <dgm:spPr/>
      <dgm:t>
        <a:bodyPr/>
        <a:lstStyle/>
        <a:p>
          <a:endParaRPr lang="en-US"/>
        </a:p>
      </dgm:t>
    </dgm:pt>
    <dgm:pt modelId="{BF3B987A-3ABA-4331-8E3B-71F46B0CE47A}" type="sibTrans" cxnId="{6F15DB3B-9654-4375-977A-3A6AE65CD114}">
      <dgm:prSet/>
      <dgm:spPr/>
      <dgm:t>
        <a:bodyPr/>
        <a:lstStyle/>
        <a:p>
          <a:endParaRPr lang="en-US"/>
        </a:p>
      </dgm:t>
    </dgm:pt>
    <dgm:pt modelId="{10C87A89-A409-467B-9C3D-5FCC5BC6F755}">
      <dgm:prSet phldrT="[Text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>
            <a:buClr>
              <a:schemeClr val="accent2"/>
            </a:buClr>
            <a:buSzPct val="80000"/>
            <a:buFont typeface="Wingdings" pitchFamily="2" charset="2"/>
            <a:buChar char="l"/>
          </a:pPr>
          <a:r>
            <a:rPr lang="en-US" b="1" dirty="0">
              <a:ln>
                <a:noFill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Public perception </a:t>
          </a:r>
          <a:r>
            <a:rPr lang="en-US" b="1" dirty="0">
              <a:ln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influences </a:t>
          </a:r>
          <a:r>
            <a:rPr lang="en-US" b="1" dirty="0">
              <a:ln>
                <a:noFill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engineering and technology</a:t>
          </a:r>
          <a:r>
            <a:rPr lang="en-US" b="1" dirty="0">
              <a:ln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advancement (e.g. Power production in Germany after Fukushima).</a:t>
          </a:r>
          <a:endParaRPr lang="en-US" dirty="0">
            <a:ln>
              <a:noFill/>
            </a:ln>
            <a:solidFill>
              <a:schemeClr val="bg1"/>
            </a:solidFill>
          </a:endParaRPr>
        </a:p>
      </dgm:t>
    </dgm:pt>
    <dgm:pt modelId="{07950860-6600-4EFB-90EA-E7E0ADCFB30D}" type="parTrans" cxnId="{C77334DC-E067-45F1-B248-6214E9DE24EA}">
      <dgm:prSet/>
      <dgm:spPr/>
      <dgm:t>
        <a:bodyPr/>
        <a:lstStyle/>
        <a:p>
          <a:endParaRPr lang="en-US"/>
        </a:p>
      </dgm:t>
    </dgm:pt>
    <dgm:pt modelId="{B332E3A5-2523-4AAB-B300-5F93D4A484EE}" type="sibTrans" cxnId="{C77334DC-E067-45F1-B248-6214E9DE24EA}">
      <dgm:prSet/>
      <dgm:spPr/>
      <dgm:t>
        <a:bodyPr/>
        <a:lstStyle/>
        <a:p>
          <a:endParaRPr lang="en-US"/>
        </a:p>
      </dgm:t>
    </dgm:pt>
    <dgm:pt modelId="{C4536FEF-7A10-460E-8FF7-57D70E1C0C91}">
      <dgm:prSet phldrT="[Text]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pPr>
            <a:buClr>
              <a:schemeClr val="accent2"/>
            </a:buClr>
            <a:buSzPct val="80000"/>
          </a:pPr>
          <a:r>
            <a:rPr lang="en-US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Because of history, any technological development will raise many questions regarding its </a:t>
          </a:r>
          <a:r>
            <a: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societal impact and ethics</a:t>
          </a:r>
          <a:r>
            <a:rPr lang="en-US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solidFill>
              <a:schemeClr val="bg1"/>
            </a:solidFill>
          </a:endParaRPr>
        </a:p>
      </dgm:t>
    </dgm:pt>
    <dgm:pt modelId="{07A00839-EBF4-402A-814E-CF07AB50BD5C}" type="parTrans" cxnId="{8496CED7-30E5-4868-9DEB-4C79E683317D}">
      <dgm:prSet/>
      <dgm:spPr/>
      <dgm:t>
        <a:bodyPr/>
        <a:lstStyle/>
        <a:p>
          <a:endParaRPr lang="en-US"/>
        </a:p>
      </dgm:t>
    </dgm:pt>
    <dgm:pt modelId="{59F63F49-4518-4A0F-AA7C-6C83AA102052}" type="sibTrans" cxnId="{8496CED7-30E5-4868-9DEB-4C79E683317D}">
      <dgm:prSet/>
      <dgm:spPr/>
      <dgm:t>
        <a:bodyPr/>
        <a:lstStyle/>
        <a:p>
          <a:endParaRPr lang="en-US"/>
        </a:p>
      </dgm:t>
    </dgm:pt>
    <dgm:pt modelId="{8254D3F4-9AF7-4FCF-A9D3-4BF472198CC5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>
            <a:buClr>
              <a:schemeClr val="accent2"/>
            </a:buClr>
            <a:buSzPct val="80000"/>
            <a:buFont typeface="Wingdings" pitchFamily="2" charset="2"/>
            <a:buChar char="l"/>
          </a:pPr>
          <a:r>
            <a:rPr lang="en-US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Engineering </a:t>
          </a:r>
          <a:r>
            <a: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professional ethics</a:t>
          </a:r>
          <a:r>
            <a:rPr lang="en-US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provide assurance to the public in exchange for autonomy.</a:t>
          </a:r>
          <a:endParaRPr lang="en-US" dirty="0">
            <a:solidFill>
              <a:schemeClr val="bg1"/>
            </a:solidFill>
          </a:endParaRPr>
        </a:p>
      </dgm:t>
    </dgm:pt>
    <dgm:pt modelId="{2A98915D-920A-4CA6-B8B5-9D78B58C3BFB}" type="parTrans" cxnId="{CE3F2C7F-9632-4C98-8CED-522B50E4E035}">
      <dgm:prSet/>
      <dgm:spPr/>
      <dgm:t>
        <a:bodyPr/>
        <a:lstStyle/>
        <a:p>
          <a:endParaRPr lang="en-US"/>
        </a:p>
      </dgm:t>
    </dgm:pt>
    <dgm:pt modelId="{DE9A2E2E-A582-4AAB-95FE-838FE1A49269}" type="sibTrans" cxnId="{CE3F2C7F-9632-4C98-8CED-522B50E4E035}">
      <dgm:prSet/>
      <dgm:spPr/>
      <dgm:t>
        <a:bodyPr/>
        <a:lstStyle/>
        <a:p>
          <a:endParaRPr lang="en-US"/>
        </a:p>
      </dgm:t>
    </dgm:pt>
    <dgm:pt modelId="{8732A4F3-979F-46C6-A634-9D0F319BDCDD}" type="pres">
      <dgm:prSet presAssocID="{6825BDCD-9E47-42F9-8683-50766EE40B5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668480-B415-477B-B7DB-97058505A19F}" type="pres">
      <dgm:prSet presAssocID="{B62D5296-E76B-42AD-AE56-DF49F88B6A2B}" presName="vertOne" presStyleCnt="0"/>
      <dgm:spPr/>
    </dgm:pt>
    <dgm:pt modelId="{CA232DF5-2C1E-4A21-816E-F454BB066DA6}" type="pres">
      <dgm:prSet presAssocID="{B62D5296-E76B-42AD-AE56-DF49F88B6A2B}" presName="txOne" presStyleLbl="node0" presStyleIdx="0" presStyleCnt="1" custScaleY="33059" custLinFactNeighborX="-61" custLinFactNeighborY="-20922">
        <dgm:presLayoutVars>
          <dgm:chPref val="3"/>
        </dgm:presLayoutVars>
      </dgm:prSet>
      <dgm:spPr/>
    </dgm:pt>
    <dgm:pt modelId="{6B909A8F-3096-439A-A04F-C626289DDE52}" type="pres">
      <dgm:prSet presAssocID="{B62D5296-E76B-42AD-AE56-DF49F88B6A2B}" presName="parTransOne" presStyleCnt="0"/>
      <dgm:spPr/>
    </dgm:pt>
    <dgm:pt modelId="{23C58ABC-1A7F-4913-A5D0-488EFFB2F604}" type="pres">
      <dgm:prSet presAssocID="{B62D5296-E76B-42AD-AE56-DF49F88B6A2B}" presName="horzOne" presStyleCnt="0"/>
      <dgm:spPr/>
    </dgm:pt>
    <dgm:pt modelId="{BADA5DA1-C767-41F1-8CEB-2D38E1E6CD9D}" type="pres">
      <dgm:prSet presAssocID="{10C87A89-A409-467B-9C3D-5FCC5BC6F755}" presName="vertTwo" presStyleCnt="0"/>
      <dgm:spPr/>
    </dgm:pt>
    <dgm:pt modelId="{CF9FF178-8A03-4268-A58C-699B04DE1AE6}" type="pres">
      <dgm:prSet presAssocID="{10C87A89-A409-467B-9C3D-5FCC5BC6F755}" presName="txTwo" presStyleLbl="node2" presStyleIdx="0" presStyleCnt="3" custScaleX="102457" custScaleY="123456" custLinFactNeighborX="-514" custLinFactNeighborY="2002">
        <dgm:presLayoutVars>
          <dgm:chPref val="3"/>
        </dgm:presLayoutVars>
      </dgm:prSet>
      <dgm:spPr/>
    </dgm:pt>
    <dgm:pt modelId="{73DA9A5F-3BD6-49E7-890D-AB719D2C6B49}" type="pres">
      <dgm:prSet presAssocID="{10C87A89-A409-467B-9C3D-5FCC5BC6F755}" presName="horzTwo" presStyleCnt="0"/>
      <dgm:spPr/>
    </dgm:pt>
    <dgm:pt modelId="{F29CFCD6-8789-41F4-9EA7-77ACBDA75555}" type="pres">
      <dgm:prSet presAssocID="{B332E3A5-2523-4AAB-B300-5F93D4A484EE}" presName="sibSpaceTwo" presStyleCnt="0"/>
      <dgm:spPr/>
    </dgm:pt>
    <dgm:pt modelId="{42E5C111-C622-4FD2-AE79-BB4EC3976C4D}" type="pres">
      <dgm:prSet presAssocID="{C4536FEF-7A10-460E-8FF7-57D70E1C0C91}" presName="vertTwo" presStyleCnt="0"/>
      <dgm:spPr/>
    </dgm:pt>
    <dgm:pt modelId="{D0009668-6DE2-4CF4-8D1C-F209EE56B56F}" type="pres">
      <dgm:prSet presAssocID="{C4536FEF-7A10-460E-8FF7-57D70E1C0C91}" presName="txTwo" presStyleLbl="node2" presStyleIdx="1" presStyleCnt="3" custScaleX="102457" custScaleY="123456" custLinFactNeighborX="1169">
        <dgm:presLayoutVars>
          <dgm:chPref val="3"/>
        </dgm:presLayoutVars>
      </dgm:prSet>
      <dgm:spPr/>
    </dgm:pt>
    <dgm:pt modelId="{1A403DC7-7C85-4BA9-94AC-A11E01336273}" type="pres">
      <dgm:prSet presAssocID="{C4536FEF-7A10-460E-8FF7-57D70E1C0C91}" presName="horzTwo" presStyleCnt="0"/>
      <dgm:spPr/>
    </dgm:pt>
    <dgm:pt modelId="{FBB0943E-D08F-41D8-9955-2E7A020960C3}" type="pres">
      <dgm:prSet presAssocID="{59F63F49-4518-4A0F-AA7C-6C83AA102052}" presName="sibSpaceTwo" presStyleCnt="0"/>
      <dgm:spPr/>
    </dgm:pt>
    <dgm:pt modelId="{1C94109B-9974-4240-B2D5-03DC6EA0A5B0}" type="pres">
      <dgm:prSet presAssocID="{8254D3F4-9AF7-4FCF-A9D3-4BF472198CC5}" presName="vertTwo" presStyleCnt="0"/>
      <dgm:spPr/>
    </dgm:pt>
    <dgm:pt modelId="{E356F199-CDC8-4681-BCD2-EC7F8A942AD5}" type="pres">
      <dgm:prSet presAssocID="{8254D3F4-9AF7-4FCF-A9D3-4BF472198CC5}" presName="txTwo" presStyleLbl="node2" presStyleIdx="2" presStyleCnt="3" custScaleX="102457" custScaleY="123456" custLinFactNeighborX="1169">
        <dgm:presLayoutVars>
          <dgm:chPref val="3"/>
        </dgm:presLayoutVars>
      </dgm:prSet>
      <dgm:spPr/>
    </dgm:pt>
    <dgm:pt modelId="{50A14BBF-8201-4733-A1AE-CA34361F4597}" type="pres">
      <dgm:prSet presAssocID="{8254D3F4-9AF7-4FCF-A9D3-4BF472198CC5}" presName="horzTwo" presStyleCnt="0"/>
      <dgm:spPr/>
    </dgm:pt>
  </dgm:ptLst>
  <dgm:cxnLst>
    <dgm:cxn modelId="{2069EA15-169F-4CB5-ADE6-F252BDCAA277}" type="presOf" srcId="{8254D3F4-9AF7-4FCF-A9D3-4BF472198CC5}" destId="{E356F199-CDC8-4681-BCD2-EC7F8A942AD5}" srcOrd="0" destOrd="0" presId="urn:microsoft.com/office/officeart/2005/8/layout/hierarchy4"/>
    <dgm:cxn modelId="{BC0B6228-5112-4435-82FA-F3320EB85991}" type="presOf" srcId="{C4536FEF-7A10-460E-8FF7-57D70E1C0C91}" destId="{D0009668-6DE2-4CF4-8D1C-F209EE56B56F}" srcOrd="0" destOrd="0" presId="urn:microsoft.com/office/officeart/2005/8/layout/hierarchy4"/>
    <dgm:cxn modelId="{D016253A-F23D-4497-AFAD-5A7595F29119}" type="presOf" srcId="{6825BDCD-9E47-42F9-8683-50766EE40B52}" destId="{8732A4F3-979F-46C6-A634-9D0F319BDCDD}" srcOrd="0" destOrd="0" presId="urn:microsoft.com/office/officeart/2005/8/layout/hierarchy4"/>
    <dgm:cxn modelId="{6F15DB3B-9654-4375-977A-3A6AE65CD114}" srcId="{6825BDCD-9E47-42F9-8683-50766EE40B52}" destId="{B62D5296-E76B-42AD-AE56-DF49F88B6A2B}" srcOrd="0" destOrd="0" parTransId="{9966DFE4-F573-407E-920A-3B319377E30C}" sibTransId="{BF3B987A-3ABA-4331-8E3B-71F46B0CE47A}"/>
    <dgm:cxn modelId="{23D8214C-CF3E-4E03-B88C-880E0097F77B}" type="presOf" srcId="{B62D5296-E76B-42AD-AE56-DF49F88B6A2B}" destId="{CA232DF5-2C1E-4A21-816E-F454BB066DA6}" srcOrd="0" destOrd="0" presId="urn:microsoft.com/office/officeart/2005/8/layout/hierarchy4"/>
    <dgm:cxn modelId="{CFB64257-C7C6-4311-B154-4A06E114F714}" type="presOf" srcId="{10C87A89-A409-467B-9C3D-5FCC5BC6F755}" destId="{CF9FF178-8A03-4268-A58C-699B04DE1AE6}" srcOrd="0" destOrd="0" presId="urn:microsoft.com/office/officeart/2005/8/layout/hierarchy4"/>
    <dgm:cxn modelId="{CE3F2C7F-9632-4C98-8CED-522B50E4E035}" srcId="{B62D5296-E76B-42AD-AE56-DF49F88B6A2B}" destId="{8254D3F4-9AF7-4FCF-A9D3-4BF472198CC5}" srcOrd="2" destOrd="0" parTransId="{2A98915D-920A-4CA6-B8B5-9D78B58C3BFB}" sibTransId="{DE9A2E2E-A582-4AAB-95FE-838FE1A49269}"/>
    <dgm:cxn modelId="{8496CED7-30E5-4868-9DEB-4C79E683317D}" srcId="{B62D5296-E76B-42AD-AE56-DF49F88B6A2B}" destId="{C4536FEF-7A10-460E-8FF7-57D70E1C0C91}" srcOrd="1" destOrd="0" parTransId="{07A00839-EBF4-402A-814E-CF07AB50BD5C}" sibTransId="{59F63F49-4518-4A0F-AA7C-6C83AA102052}"/>
    <dgm:cxn modelId="{C77334DC-E067-45F1-B248-6214E9DE24EA}" srcId="{B62D5296-E76B-42AD-AE56-DF49F88B6A2B}" destId="{10C87A89-A409-467B-9C3D-5FCC5BC6F755}" srcOrd="0" destOrd="0" parTransId="{07950860-6600-4EFB-90EA-E7E0ADCFB30D}" sibTransId="{B332E3A5-2523-4AAB-B300-5F93D4A484EE}"/>
    <dgm:cxn modelId="{3D80A70B-8628-4F72-99F0-4B6566784953}" type="presParOf" srcId="{8732A4F3-979F-46C6-A634-9D0F319BDCDD}" destId="{76668480-B415-477B-B7DB-97058505A19F}" srcOrd="0" destOrd="0" presId="urn:microsoft.com/office/officeart/2005/8/layout/hierarchy4"/>
    <dgm:cxn modelId="{70EA070B-0628-42DA-B9BE-7B47652599F4}" type="presParOf" srcId="{76668480-B415-477B-B7DB-97058505A19F}" destId="{CA232DF5-2C1E-4A21-816E-F454BB066DA6}" srcOrd="0" destOrd="0" presId="urn:microsoft.com/office/officeart/2005/8/layout/hierarchy4"/>
    <dgm:cxn modelId="{6404F7E8-F33C-4C4E-9D9C-8FD499548FA9}" type="presParOf" srcId="{76668480-B415-477B-B7DB-97058505A19F}" destId="{6B909A8F-3096-439A-A04F-C626289DDE52}" srcOrd="1" destOrd="0" presId="urn:microsoft.com/office/officeart/2005/8/layout/hierarchy4"/>
    <dgm:cxn modelId="{3FE9CCFA-AE25-4964-A11D-B09BD08FA3A2}" type="presParOf" srcId="{76668480-B415-477B-B7DB-97058505A19F}" destId="{23C58ABC-1A7F-4913-A5D0-488EFFB2F604}" srcOrd="2" destOrd="0" presId="urn:microsoft.com/office/officeart/2005/8/layout/hierarchy4"/>
    <dgm:cxn modelId="{9101EA9F-A90A-4DA9-8BFD-B530C496EEC6}" type="presParOf" srcId="{23C58ABC-1A7F-4913-A5D0-488EFFB2F604}" destId="{BADA5DA1-C767-41F1-8CEB-2D38E1E6CD9D}" srcOrd="0" destOrd="0" presId="urn:microsoft.com/office/officeart/2005/8/layout/hierarchy4"/>
    <dgm:cxn modelId="{94C9B661-123C-483D-A76E-6BC9F1CDB5A7}" type="presParOf" srcId="{BADA5DA1-C767-41F1-8CEB-2D38E1E6CD9D}" destId="{CF9FF178-8A03-4268-A58C-699B04DE1AE6}" srcOrd="0" destOrd="0" presId="urn:microsoft.com/office/officeart/2005/8/layout/hierarchy4"/>
    <dgm:cxn modelId="{239ED0B5-0EB2-42EC-ACE6-CE3DD91F611E}" type="presParOf" srcId="{BADA5DA1-C767-41F1-8CEB-2D38E1E6CD9D}" destId="{73DA9A5F-3BD6-49E7-890D-AB719D2C6B49}" srcOrd="1" destOrd="0" presId="urn:microsoft.com/office/officeart/2005/8/layout/hierarchy4"/>
    <dgm:cxn modelId="{27AE9D09-1C91-4723-AFC3-3D16C28A7EBB}" type="presParOf" srcId="{23C58ABC-1A7F-4913-A5D0-488EFFB2F604}" destId="{F29CFCD6-8789-41F4-9EA7-77ACBDA75555}" srcOrd="1" destOrd="0" presId="urn:microsoft.com/office/officeart/2005/8/layout/hierarchy4"/>
    <dgm:cxn modelId="{88377868-0E96-492B-9F89-DDE91C32CDE0}" type="presParOf" srcId="{23C58ABC-1A7F-4913-A5D0-488EFFB2F604}" destId="{42E5C111-C622-4FD2-AE79-BB4EC3976C4D}" srcOrd="2" destOrd="0" presId="urn:microsoft.com/office/officeart/2005/8/layout/hierarchy4"/>
    <dgm:cxn modelId="{B0C0EA18-DB52-464D-BFB5-D1036479BE70}" type="presParOf" srcId="{42E5C111-C622-4FD2-AE79-BB4EC3976C4D}" destId="{D0009668-6DE2-4CF4-8D1C-F209EE56B56F}" srcOrd="0" destOrd="0" presId="urn:microsoft.com/office/officeart/2005/8/layout/hierarchy4"/>
    <dgm:cxn modelId="{7F7E3CE8-EFA7-4581-B3C1-1E7A554278DB}" type="presParOf" srcId="{42E5C111-C622-4FD2-AE79-BB4EC3976C4D}" destId="{1A403DC7-7C85-4BA9-94AC-A11E01336273}" srcOrd="1" destOrd="0" presId="urn:microsoft.com/office/officeart/2005/8/layout/hierarchy4"/>
    <dgm:cxn modelId="{FD10E50E-B812-4D7C-8A3F-046AAB61B2A4}" type="presParOf" srcId="{23C58ABC-1A7F-4913-A5D0-488EFFB2F604}" destId="{FBB0943E-D08F-41D8-9955-2E7A020960C3}" srcOrd="3" destOrd="0" presId="urn:microsoft.com/office/officeart/2005/8/layout/hierarchy4"/>
    <dgm:cxn modelId="{39CCA2E9-243D-43B0-BC57-DD062B312C0E}" type="presParOf" srcId="{23C58ABC-1A7F-4913-A5D0-488EFFB2F604}" destId="{1C94109B-9974-4240-B2D5-03DC6EA0A5B0}" srcOrd="4" destOrd="0" presId="urn:microsoft.com/office/officeart/2005/8/layout/hierarchy4"/>
    <dgm:cxn modelId="{6A874E14-9F59-4168-A949-7502E88B5162}" type="presParOf" srcId="{1C94109B-9974-4240-B2D5-03DC6EA0A5B0}" destId="{E356F199-CDC8-4681-BCD2-EC7F8A942AD5}" srcOrd="0" destOrd="0" presId="urn:microsoft.com/office/officeart/2005/8/layout/hierarchy4"/>
    <dgm:cxn modelId="{5D53D0CF-2931-48DA-AF4D-BFADAAEA883B}" type="presParOf" srcId="{1C94109B-9974-4240-B2D5-03DC6EA0A5B0}" destId="{50A14BBF-8201-4733-A1AE-CA34361F459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B99265-E9C9-4FFF-B318-F5FB4F137C49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73062-5B58-4417-A005-7C61769C0595}">
      <dgm:prSet phldrT="[Text]"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sz="3200" b="1" dirty="0">
              <a:solidFill>
                <a:srgbClr val="66FF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include ethical considerations in their work at early stages</a:t>
          </a:r>
          <a:endParaRPr lang="en-US" sz="3200" dirty="0"/>
        </a:p>
      </dgm:t>
    </dgm:pt>
    <dgm:pt modelId="{47B37F10-DCF1-4AA9-8C2F-F8DC3CBDB7FD}" type="parTrans" cxnId="{7B377D54-3251-4F51-9797-457F268CB4CA}">
      <dgm:prSet/>
      <dgm:spPr/>
      <dgm:t>
        <a:bodyPr/>
        <a:lstStyle/>
        <a:p>
          <a:endParaRPr lang="en-US" sz="3200"/>
        </a:p>
      </dgm:t>
    </dgm:pt>
    <dgm:pt modelId="{A2F08F18-9D0C-4D0E-84CD-51E69441B19D}" type="sibTrans" cxnId="{7B377D54-3251-4F51-9797-457F268CB4CA}">
      <dgm:prSet/>
      <dgm:spPr/>
      <dgm:t>
        <a:bodyPr/>
        <a:lstStyle/>
        <a:p>
          <a:endParaRPr lang="en-US" sz="3200"/>
        </a:p>
      </dgm:t>
    </dgm:pt>
    <dgm:pt modelId="{E8FCD852-FD51-4A15-A0E1-F5FED50CD0D5}">
      <dgm:prSet phldrT="[Text]" custT="1"/>
      <dgm:spPr/>
      <dgm:t>
        <a:bodyPr/>
        <a:lstStyle/>
        <a:p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To inform the public and the decision makers</a:t>
          </a:r>
          <a:endParaRPr lang="en-US" sz="3200" dirty="0"/>
        </a:p>
      </dgm:t>
    </dgm:pt>
    <dgm:pt modelId="{CE0C0E10-71B0-4F26-8376-54093BFDAB18}" type="parTrans" cxnId="{F579B3E3-93DB-40B2-8861-5D475C598C76}">
      <dgm:prSet/>
      <dgm:spPr/>
      <dgm:t>
        <a:bodyPr/>
        <a:lstStyle/>
        <a:p>
          <a:endParaRPr lang="en-US" sz="3200"/>
        </a:p>
      </dgm:t>
    </dgm:pt>
    <dgm:pt modelId="{5D358383-1D11-4E4D-B418-7D91B3E25C8F}" type="sibTrans" cxnId="{F579B3E3-93DB-40B2-8861-5D475C598C76}">
      <dgm:prSet/>
      <dgm:spPr/>
      <dgm:t>
        <a:bodyPr/>
        <a:lstStyle/>
        <a:p>
          <a:endParaRPr lang="en-US" sz="3200"/>
        </a:p>
      </dgm:t>
    </dgm:pt>
    <dgm:pt modelId="{FE252042-74AD-4ED1-80D4-6D816FA3AE18}">
      <dgm:prSet custT="1"/>
      <dgm:spPr>
        <a:solidFill>
          <a:srgbClr val="01043D"/>
        </a:solidFill>
      </dgm:spPr>
      <dgm:t>
        <a:bodyPr/>
        <a:lstStyle/>
        <a:p>
          <a:r>
            <a:rPr lang="en-US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participate in policy making regarding technology – dual duty of informed citizens</a:t>
          </a:r>
        </a:p>
      </dgm:t>
    </dgm:pt>
    <dgm:pt modelId="{930C92FA-A200-413B-AAA0-7BC440F24B63}" type="parTrans" cxnId="{1B43FAED-FAF1-421F-9AAA-3E444E68EA4C}">
      <dgm:prSet/>
      <dgm:spPr/>
      <dgm:t>
        <a:bodyPr/>
        <a:lstStyle/>
        <a:p>
          <a:endParaRPr lang="en-US" sz="3200"/>
        </a:p>
      </dgm:t>
    </dgm:pt>
    <dgm:pt modelId="{A4C2BA3C-9E9D-4AA2-B4A5-F34387E762D9}" type="sibTrans" cxnId="{1B43FAED-FAF1-421F-9AAA-3E444E68EA4C}">
      <dgm:prSet/>
      <dgm:spPr/>
      <dgm:t>
        <a:bodyPr/>
        <a:lstStyle/>
        <a:p>
          <a:endParaRPr lang="en-US" sz="3200"/>
        </a:p>
      </dgm:t>
    </dgm:pt>
    <dgm:pt modelId="{43EA22F1-A99F-4136-ACC2-BBC5C14CF9BB}">
      <dgm:prSet custT="1"/>
      <dgm:spPr>
        <a:solidFill>
          <a:srgbClr val="7030A0"/>
        </a:solidFill>
      </dgm:spPr>
      <dgm:t>
        <a:bodyPr/>
        <a:lstStyle/>
        <a:p>
          <a:r>
            <a:rPr lang="en-US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protect and advance the profession</a:t>
          </a:r>
        </a:p>
      </dgm:t>
    </dgm:pt>
    <dgm:pt modelId="{D073B84D-9252-468D-A0DC-601A9A224A8D}" type="parTrans" cxnId="{2F2F0CC5-C116-4014-9795-29E867D96BE8}">
      <dgm:prSet/>
      <dgm:spPr/>
      <dgm:t>
        <a:bodyPr/>
        <a:lstStyle/>
        <a:p>
          <a:endParaRPr lang="en-US" sz="3200"/>
        </a:p>
      </dgm:t>
    </dgm:pt>
    <dgm:pt modelId="{B36B3F07-ED82-411D-AD90-07844D00D27C}" type="sibTrans" cxnId="{2F2F0CC5-C116-4014-9795-29E867D96BE8}">
      <dgm:prSet/>
      <dgm:spPr/>
      <dgm:t>
        <a:bodyPr/>
        <a:lstStyle/>
        <a:p>
          <a:endParaRPr lang="en-US" sz="3200"/>
        </a:p>
      </dgm:t>
    </dgm:pt>
    <dgm:pt modelId="{4B207413-AF7A-4F43-ADFA-FDE56797C461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3200" b="1" dirty="0">
              <a:solidFill>
                <a:srgbClr val="99FF66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protect the public health and welfare at all stages</a:t>
          </a:r>
          <a:endParaRPr lang="en-US" sz="3200" dirty="0"/>
        </a:p>
      </dgm:t>
    </dgm:pt>
    <dgm:pt modelId="{4BFBE28C-16E7-4EA6-AAFD-8BE5E216CD89}" type="sibTrans" cxnId="{79AAFCE6-92BD-4525-BBDF-F34625CFB2AC}">
      <dgm:prSet/>
      <dgm:spPr/>
      <dgm:t>
        <a:bodyPr/>
        <a:lstStyle/>
        <a:p>
          <a:endParaRPr lang="en-US" sz="3200"/>
        </a:p>
      </dgm:t>
    </dgm:pt>
    <dgm:pt modelId="{FCFFD622-9AF3-4B9E-8BD1-B02CC2DD0C5E}" type="parTrans" cxnId="{79AAFCE6-92BD-4525-BBDF-F34625CFB2AC}">
      <dgm:prSet/>
      <dgm:spPr/>
      <dgm:t>
        <a:bodyPr/>
        <a:lstStyle/>
        <a:p>
          <a:endParaRPr lang="en-US" sz="3200"/>
        </a:p>
      </dgm:t>
    </dgm:pt>
    <dgm:pt modelId="{DDBA76D6-DFEF-423C-8B87-E470621195F5}" type="pres">
      <dgm:prSet presAssocID="{14B99265-E9C9-4FFF-B318-F5FB4F137C49}" presName="Name0" presStyleCnt="0">
        <dgm:presLayoutVars>
          <dgm:resizeHandles/>
        </dgm:presLayoutVars>
      </dgm:prSet>
      <dgm:spPr/>
    </dgm:pt>
    <dgm:pt modelId="{2FA7F5F9-1499-4004-A29A-5102CC3187BF}" type="pres">
      <dgm:prSet presAssocID="{4B207413-AF7A-4F43-ADFA-FDE56797C461}" presName="text" presStyleLbl="node1" presStyleIdx="0" presStyleCnt="5" custScaleX="131659" custLinFactNeighborY="-97666">
        <dgm:presLayoutVars>
          <dgm:bulletEnabled val="1"/>
        </dgm:presLayoutVars>
      </dgm:prSet>
      <dgm:spPr/>
    </dgm:pt>
    <dgm:pt modelId="{4B08972C-B8EB-47C7-BF74-7168709366FB}" type="pres">
      <dgm:prSet presAssocID="{4BFBE28C-16E7-4EA6-AAFD-8BE5E216CD89}" presName="space" presStyleCnt="0"/>
      <dgm:spPr/>
    </dgm:pt>
    <dgm:pt modelId="{5BA844C2-7389-4680-9DF6-99F6F9CB138A}" type="pres">
      <dgm:prSet presAssocID="{1DE73062-5B58-4417-A005-7C61769C0595}" presName="text" presStyleLbl="node1" presStyleIdx="1" presStyleCnt="5">
        <dgm:presLayoutVars>
          <dgm:bulletEnabled val="1"/>
        </dgm:presLayoutVars>
      </dgm:prSet>
      <dgm:spPr/>
    </dgm:pt>
    <dgm:pt modelId="{426C9E28-93E3-4069-AEDB-3AC465AD0E84}" type="pres">
      <dgm:prSet presAssocID="{A2F08F18-9D0C-4D0E-84CD-51E69441B19D}" presName="space" presStyleCnt="0"/>
      <dgm:spPr/>
    </dgm:pt>
    <dgm:pt modelId="{13E8627A-C9B4-48DC-876E-5CD778F6562B}" type="pres">
      <dgm:prSet presAssocID="{E8FCD852-FD51-4A15-A0E1-F5FED50CD0D5}" presName="text" presStyleLbl="node1" presStyleIdx="2" presStyleCnt="5" custScaleX="133456" custLinFactNeighborX="-143">
        <dgm:presLayoutVars>
          <dgm:bulletEnabled val="1"/>
        </dgm:presLayoutVars>
      </dgm:prSet>
      <dgm:spPr/>
    </dgm:pt>
    <dgm:pt modelId="{A1674790-BB83-419A-8158-E4B253843B64}" type="pres">
      <dgm:prSet presAssocID="{5D358383-1D11-4E4D-B418-7D91B3E25C8F}" presName="space" presStyleCnt="0"/>
      <dgm:spPr/>
    </dgm:pt>
    <dgm:pt modelId="{0A3ECFB2-C942-426D-93A4-F22313D922A2}" type="pres">
      <dgm:prSet presAssocID="{FE252042-74AD-4ED1-80D4-6D816FA3AE18}" presName="text" presStyleLbl="node1" presStyleIdx="3" presStyleCnt="5" custScaleY="120559">
        <dgm:presLayoutVars>
          <dgm:bulletEnabled val="1"/>
        </dgm:presLayoutVars>
      </dgm:prSet>
      <dgm:spPr/>
    </dgm:pt>
    <dgm:pt modelId="{41C05F14-99C8-4E69-981B-26089D0DCF19}" type="pres">
      <dgm:prSet presAssocID="{A4C2BA3C-9E9D-4AA2-B4A5-F34387E762D9}" presName="space" presStyleCnt="0"/>
      <dgm:spPr/>
    </dgm:pt>
    <dgm:pt modelId="{5BAEB274-935A-48AF-AF45-C610F886409F}" type="pres">
      <dgm:prSet presAssocID="{43EA22F1-A99F-4136-ACC2-BBC5C14CF9BB}" presName="text" presStyleLbl="node1" presStyleIdx="4" presStyleCnt="5" custScaleX="158193">
        <dgm:presLayoutVars>
          <dgm:bulletEnabled val="1"/>
        </dgm:presLayoutVars>
      </dgm:prSet>
      <dgm:spPr/>
    </dgm:pt>
  </dgm:ptLst>
  <dgm:cxnLst>
    <dgm:cxn modelId="{A3375004-9C8B-4867-9A95-1F02858B9CD8}" type="presOf" srcId="{14B99265-E9C9-4FFF-B318-F5FB4F137C49}" destId="{DDBA76D6-DFEF-423C-8B87-E470621195F5}" srcOrd="0" destOrd="0" presId="urn:diagrams.loki3.com/VaryingWidthList"/>
    <dgm:cxn modelId="{A9DA8734-117D-4AD5-B10E-3CE839F67632}" type="presOf" srcId="{FE252042-74AD-4ED1-80D4-6D816FA3AE18}" destId="{0A3ECFB2-C942-426D-93A4-F22313D922A2}" srcOrd="0" destOrd="0" presId="urn:diagrams.loki3.com/VaryingWidthList"/>
    <dgm:cxn modelId="{7B377D54-3251-4F51-9797-457F268CB4CA}" srcId="{14B99265-E9C9-4FFF-B318-F5FB4F137C49}" destId="{1DE73062-5B58-4417-A005-7C61769C0595}" srcOrd="1" destOrd="0" parTransId="{47B37F10-DCF1-4AA9-8C2F-F8DC3CBDB7FD}" sibTransId="{A2F08F18-9D0C-4D0E-84CD-51E69441B19D}"/>
    <dgm:cxn modelId="{E2563B5A-746C-4F11-AAE7-EBD2E4894277}" type="presOf" srcId="{E8FCD852-FD51-4A15-A0E1-F5FED50CD0D5}" destId="{13E8627A-C9B4-48DC-876E-5CD778F6562B}" srcOrd="0" destOrd="0" presId="urn:diagrams.loki3.com/VaryingWidthList"/>
    <dgm:cxn modelId="{BF25D77B-44B0-4D18-ABC5-BBF8AF9F5B6D}" type="presOf" srcId="{4B207413-AF7A-4F43-ADFA-FDE56797C461}" destId="{2FA7F5F9-1499-4004-A29A-5102CC3187BF}" srcOrd="0" destOrd="0" presId="urn:diagrams.loki3.com/VaryingWidthList"/>
    <dgm:cxn modelId="{5EA22C80-7A29-4E00-B62F-384A40295194}" type="presOf" srcId="{1DE73062-5B58-4417-A005-7C61769C0595}" destId="{5BA844C2-7389-4680-9DF6-99F6F9CB138A}" srcOrd="0" destOrd="0" presId="urn:diagrams.loki3.com/VaryingWidthList"/>
    <dgm:cxn modelId="{46AF6597-4EF1-41D0-BF58-69CCDE74057C}" type="presOf" srcId="{43EA22F1-A99F-4136-ACC2-BBC5C14CF9BB}" destId="{5BAEB274-935A-48AF-AF45-C610F886409F}" srcOrd="0" destOrd="0" presId="urn:diagrams.loki3.com/VaryingWidthList"/>
    <dgm:cxn modelId="{2F2F0CC5-C116-4014-9795-29E867D96BE8}" srcId="{14B99265-E9C9-4FFF-B318-F5FB4F137C49}" destId="{43EA22F1-A99F-4136-ACC2-BBC5C14CF9BB}" srcOrd="4" destOrd="0" parTransId="{D073B84D-9252-468D-A0DC-601A9A224A8D}" sibTransId="{B36B3F07-ED82-411D-AD90-07844D00D27C}"/>
    <dgm:cxn modelId="{F579B3E3-93DB-40B2-8861-5D475C598C76}" srcId="{14B99265-E9C9-4FFF-B318-F5FB4F137C49}" destId="{E8FCD852-FD51-4A15-A0E1-F5FED50CD0D5}" srcOrd="2" destOrd="0" parTransId="{CE0C0E10-71B0-4F26-8376-54093BFDAB18}" sibTransId="{5D358383-1D11-4E4D-B418-7D91B3E25C8F}"/>
    <dgm:cxn modelId="{79AAFCE6-92BD-4525-BBDF-F34625CFB2AC}" srcId="{14B99265-E9C9-4FFF-B318-F5FB4F137C49}" destId="{4B207413-AF7A-4F43-ADFA-FDE56797C461}" srcOrd="0" destOrd="0" parTransId="{FCFFD622-9AF3-4B9E-8BD1-B02CC2DD0C5E}" sibTransId="{4BFBE28C-16E7-4EA6-AAFD-8BE5E216CD89}"/>
    <dgm:cxn modelId="{1B43FAED-FAF1-421F-9AAA-3E444E68EA4C}" srcId="{14B99265-E9C9-4FFF-B318-F5FB4F137C49}" destId="{FE252042-74AD-4ED1-80D4-6D816FA3AE18}" srcOrd="3" destOrd="0" parTransId="{930C92FA-A200-413B-AAA0-7BC440F24B63}" sibTransId="{A4C2BA3C-9E9D-4AA2-B4A5-F34387E762D9}"/>
    <dgm:cxn modelId="{A8379DCE-A159-47DF-B5F5-4ACB2138EE6A}" type="presParOf" srcId="{DDBA76D6-DFEF-423C-8B87-E470621195F5}" destId="{2FA7F5F9-1499-4004-A29A-5102CC3187BF}" srcOrd="0" destOrd="0" presId="urn:diagrams.loki3.com/VaryingWidthList"/>
    <dgm:cxn modelId="{FAE9DE01-C2A9-4A52-A34E-CC84C760DD97}" type="presParOf" srcId="{DDBA76D6-DFEF-423C-8B87-E470621195F5}" destId="{4B08972C-B8EB-47C7-BF74-7168709366FB}" srcOrd="1" destOrd="0" presId="urn:diagrams.loki3.com/VaryingWidthList"/>
    <dgm:cxn modelId="{0900CDC9-F2A0-494B-AFE5-212577272428}" type="presParOf" srcId="{DDBA76D6-DFEF-423C-8B87-E470621195F5}" destId="{5BA844C2-7389-4680-9DF6-99F6F9CB138A}" srcOrd="2" destOrd="0" presId="urn:diagrams.loki3.com/VaryingWidthList"/>
    <dgm:cxn modelId="{BCF532C4-FEE3-4DA6-9EC8-3FC25C2C9BC5}" type="presParOf" srcId="{DDBA76D6-DFEF-423C-8B87-E470621195F5}" destId="{426C9E28-93E3-4069-AEDB-3AC465AD0E84}" srcOrd="3" destOrd="0" presId="urn:diagrams.loki3.com/VaryingWidthList"/>
    <dgm:cxn modelId="{8B69D39C-F7FA-461F-9B68-0BE061BB20FF}" type="presParOf" srcId="{DDBA76D6-DFEF-423C-8B87-E470621195F5}" destId="{13E8627A-C9B4-48DC-876E-5CD778F6562B}" srcOrd="4" destOrd="0" presId="urn:diagrams.loki3.com/VaryingWidthList"/>
    <dgm:cxn modelId="{ECFA35DB-3B32-4A8A-97D4-9E317396DA85}" type="presParOf" srcId="{DDBA76D6-DFEF-423C-8B87-E470621195F5}" destId="{A1674790-BB83-419A-8158-E4B253843B64}" srcOrd="5" destOrd="0" presId="urn:diagrams.loki3.com/VaryingWidthList"/>
    <dgm:cxn modelId="{A473A8A2-C40A-4E1A-ADC0-66DE27466D69}" type="presParOf" srcId="{DDBA76D6-DFEF-423C-8B87-E470621195F5}" destId="{0A3ECFB2-C942-426D-93A4-F22313D922A2}" srcOrd="6" destOrd="0" presId="urn:diagrams.loki3.com/VaryingWidthList"/>
    <dgm:cxn modelId="{CD981698-BFE3-4C07-BA6D-F79825A58401}" type="presParOf" srcId="{DDBA76D6-DFEF-423C-8B87-E470621195F5}" destId="{41C05F14-99C8-4E69-981B-26089D0DCF19}" srcOrd="7" destOrd="0" presId="urn:diagrams.loki3.com/VaryingWidthList"/>
    <dgm:cxn modelId="{DA46B943-CDEA-479A-81AA-9F7219E7CAA4}" type="presParOf" srcId="{DDBA76D6-DFEF-423C-8B87-E470621195F5}" destId="{5BAEB274-935A-48AF-AF45-C610F886409F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FDF7E-5D4D-496C-A392-CAB4E2B2C471}">
      <dsp:nvSpPr>
        <dsp:cNvPr id="0" name=""/>
        <dsp:cNvSpPr/>
      </dsp:nvSpPr>
      <dsp:spPr>
        <a:xfrm>
          <a:off x="1565509" y="0"/>
          <a:ext cx="7678003" cy="4821080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shade val="8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  <a:latin typeface="Calisto MT" panose="02040603050505030304" pitchFamily="18" charset="0"/>
            </a:rPr>
            <a:t>Globe</a:t>
          </a:r>
        </a:p>
      </dsp:txBody>
      <dsp:txXfrm>
        <a:off x="4331126" y="241053"/>
        <a:ext cx="2146769" cy="723162"/>
      </dsp:txXfrm>
    </dsp:sp>
    <dsp:sp modelId="{548C612A-8684-4548-AE68-68AD450773CC}">
      <dsp:nvSpPr>
        <dsp:cNvPr id="0" name=""/>
        <dsp:cNvSpPr/>
      </dsp:nvSpPr>
      <dsp:spPr>
        <a:xfrm>
          <a:off x="1928300" y="964215"/>
          <a:ext cx="6963799" cy="3856864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206754"/>
                <a:satOff val="5478"/>
                <a:lumOff val="9945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shade val="80000"/>
                <a:hueOff val="-206754"/>
                <a:satOff val="5478"/>
                <a:lumOff val="9945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C00000"/>
              </a:solidFill>
              <a:latin typeface="Calisto MT" panose="02040603050505030304" pitchFamily="18" charset="0"/>
            </a:rPr>
            <a:t>Society</a:t>
          </a:r>
        </a:p>
      </dsp:txBody>
      <dsp:txXfrm>
        <a:off x="4193276" y="1195627"/>
        <a:ext cx="2433847" cy="694235"/>
      </dsp:txXfrm>
    </dsp:sp>
    <dsp:sp modelId="{C2EE4EDA-0178-44DD-B0FD-4A1DBF1B7DD2}">
      <dsp:nvSpPr>
        <dsp:cNvPr id="0" name=""/>
        <dsp:cNvSpPr/>
      </dsp:nvSpPr>
      <dsp:spPr>
        <a:xfrm>
          <a:off x="2553261" y="1928431"/>
          <a:ext cx="5713876" cy="2892648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413508"/>
                <a:satOff val="10956"/>
                <a:lumOff val="1989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shade val="80000"/>
                <a:hueOff val="-413508"/>
                <a:satOff val="10956"/>
                <a:lumOff val="1989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0000"/>
              </a:solidFill>
              <a:latin typeface="Calisto MT" panose="02040603050505030304" pitchFamily="18" charset="0"/>
            </a:rPr>
            <a:t>Human</a:t>
          </a:r>
        </a:p>
      </dsp:txBody>
      <dsp:txXfrm>
        <a:off x="4078866" y="2145380"/>
        <a:ext cx="2662666" cy="650845"/>
      </dsp:txXfrm>
    </dsp:sp>
    <dsp:sp modelId="{BA59E150-030C-4ADC-A5C3-CB68C961480A}">
      <dsp:nvSpPr>
        <dsp:cNvPr id="0" name=""/>
        <dsp:cNvSpPr/>
      </dsp:nvSpPr>
      <dsp:spPr>
        <a:xfrm>
          <a:off x="3069411" y="2979948"/>
          <a:ext cx="4681538" cy="1820709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620262"/>
                <a:satOff val="16434"/>
                <a:lumOff val="29835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shade val="80000"/>
                <a:hueOff val="-620262"/>
                <a:satOff val="16434"/>
                <a:lumOff val="29835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002060"/>
              </a:solidFill>
              <a:latin typeface="Calisto MT" panose="02040603050505030304" pitchFamily="18" charset="0"/>
            </a:rPr>
            <a:t>Engineering&amp; Technology</a:t>
          </a:r>
        </a:p>
      </dsp:txBody>
      <dsp:txXfrm>
        <a:off x="3755006" y="3435125"/>
        <a:ext cx="3310347" cy="910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32DF5-2C1E-4A21-816E-F454BB066DA6}">
      <dsp:nvSpPr>
        <dsp:cNvPr id="0" name=""/>
        <dsp:cNvSpPr/>
      </dsp:nvSpPr>
      <dsp:spPr>
        <a:xfrm>
          <a:off x="0" y="0"/>
          <a:ext cx="11033732" cy="1158337"/>
        </a:xfrm>
        <a:prstGeom prst="roundRect">
          <a:avLst>
            <a:gd name="adj" fmla="val 10000"/>
          </a:avLst>
        </a:prstGeom>
        <a:solidFill>
          <a:srgbClr val="01043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>
              <a:latin typeface="Britannic Bold" panose="020B0903060703020204" pitchFamily="34" charset="0"/>
            </a:rPr>
            <a:t>RESULTS</a:t>
          </a:r>
        </a:p>
      </dsp:txBody>
      <dsp:txXfrm>
        <a:off x="33927" y="33927"/>
        <a:ext cx="10965878" cy="1090483"/>
      </dsp:txXfrm>
    </dsp:sp>
    <dsp:sp modelId="{CF9FF178-8A03-4268-A58C-699B04DE1AE6}">
      <dsp:nvSpPr>
        <dsp:cNvPr id="0" name=""/>
        <dsp:cNvSpPr/>
      </dsp:nvSpPr>
      <dsp:spPr>
        <a:xfrm>
          <a:off x="0" y="1536383"/>
          <a:ext cx="3480497" cy="4613470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2"/>
            </a:buClr>
            <a:buSzPct val="80000"/>
            <a:buFont typeface="Wingdings" pitchFamily="2" charset="2"/>
            <a:buNone/>
          </a:pPr>
          <a:r>
            <a:rPr lang="en-US" sz="34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Engineering projects are </a:t>
          </a:r>
          <a:r>
            <a:rPr lang="en-US" sz="3400" b="1" u="sng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social experiments</a:t>
          </a:r>
          <a:r>
            <a:rPr lang="en-US" sz="34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requiring morally responsible engineering behavior</a:t>
          </a:r>
          <a:endParaRPr lang="en-US" sz="3400" kern="1200" dirty="0">
            <a:solidFill>
              <a:schemeClr val="bg1"/>
            </a:solidFill>
          </a:endParaRPr>
        </a:p>
      </dsp:txBody>
      <dsp:txXfrm>
        <a:off x="101940" y="1638323"/>
        <a:ext cx="3276617" cy="4409590"/>
      </dsp:txXfrm>
    </dsp:sp>
    <dsp:sp modelId="{D0009668-6DE2-4CF4-8D1C-F209EE56B56F}">
      <dsp:nvSpPr>
        <dsp:cNvPr id="0" name=""/>
        <dsp:cNvSpPr/>
      </dsp:nvSpPr>
      <dsp:spPr>
        <a:xfrm>
          <a:off x="3823020" y="1536383"/>
          <a:ext cx="3480497" cy="4613470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2"/>
            </a:buClr>
            <a:buSzPct val="80000"/>
            <a:buNone/>
          </a:pPr>
          <a:r>
            <a:rPr lang="en-US" sz="34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Engineers have a responsibility for protecting the safety and well-being of the </a:t>
          </a:r>
          <a:r>
            <a:rPr lang="en-US" sz="3400" b="1" u="sng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public</a:t>
          </a:r>
          <a:r>
            <a:rPr lang="en-US" sz="34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2"/>
            </a:buClr>
            <a:buSzPct val="80000"/>
            <a:buNone/>
          </a:pPr>
          <a:r>
            <a:rPr lang="en-US" sz="3400" b="1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3400" b="1" i="1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Implicit Social Contract</a:t>
          </a:r>
          <a:r>
            <a:rPr lang="en-US" sz="3400" b="1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3400" kern="1200" dirty="0">
            <a:solidFill>
              <a:srgbClr val="C00000"/>
            </a:solidFill>
          </a:endParaRPr>
        </a:p>
      </dsp:txBody>
      <dsp:txXfrm>
        <a:off x="3924960" y="1638323"/>
        <a:ext cx="3276617" cy="4409590"/>
      </dsp:txXfrm>
    </dsp:sp>
    <dsp:sp modelId="{E356F199-CDC8-4681-BCD2-EC7F8A942AD5}">
      <dsp:nvSpPr>
        <dsp:cNvPr id="0" name=""/>
        <dsp:cNvSpPr/>
      </dsp:nvSpPr>
      <dsp:spPr>
        <a:xfrm>
          <a:off x="7566617" y="1536383"/>
          <a:ext cx="3480497" cy="4613470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2"/>
            </a:buClr>
            <a:buSzPct val="80000"/>
            <a:buFont typeface="Wingdings" pitchFamily="2" charset="2"/>
            <a:buNone/>
          </a:pPr>
          <a:r>
            <a:rPr lang="en-US" sz="34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Engineers have also the responsibility for guarding and advancing their </a:t>
          </a:r>
          <a:r>
            <a:rPr lang="en-US" sz="3400" b="1" u="sng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profession</a:t>
          </a:r>
          <a:endParaRPr lang="en-US" sz="3400" kern="1200" dirty="0">
            <a:solidFill>
              <a:srgbClr val="FF0000"/>
            </a:solidFill>
          </a:endParaRPr>
        </a:p>
      </dsp:txBody>
      <dsp:txXfrm>
        <a:off x="7668557" y="1638323"/>
        <a:ext cx="3276617" cy="44095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32DF5-2C1E-4A21-816E-F454BB066DA6}">
      <dsp:nvSpPr>
        <dsp:cNvPr id="0" name=""/>
        <dsp:cNvSpPr/>
      </dsp:nvSpPr>
      <dsp:spPr>
        <a:xfrm>
          <a:off x="0" y="0"/>
          <a:ext cx="11033732" cy="1219504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>
              <a:latin typeface="Britannic Bold" panose="020B0903060703020204" pitchFamily="34" charset="0"/>
            </a:rPr>
            <a:t>RECIPROCAL INFLUENCE</a:t>
          </a:r>
        </a:p>
      </dsp:txBody>
      <dsp:txXfrm>
        <a:off x="35718" y="35718"/>
        <a:ext cx="10962296" cy="1148068"/>
      </dsp:txXfrm>
    </dsp:sp>
    <dsp:sp modelId="{CF9FF178-8A03-4268-A58C-699B04DE1AE6}">
      <dsp:nvSpPr>
        <dsp:cNvPr id="0" name=""/>
        <dsp:cNvSpPr/>
      </dsp:nvSpPr>
      <dsp:spPr>
        <a:xfrm>
          <a:off x="0" y="1597991"/>
          <a:ext cx="3480497" cy="4554133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2"/>
            </a:buClr>
            <a:buSzPct val="80000"/>
            <a:buFont typeface="Wingdings" pitchFamily="2" charset="2"/>
            <a:buNone/>
          </a:pPr>
          <a:r>
            <a:rPr lang="en-US" sz="3100" b="1" kern="1200" dirty="0">
              <a:ln>
                <a:noFill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Public perception </a:t>
          </a:r>
          <a:r>
            <a:rPr lang="en-US" sz="3100" b="1" kern="1200" dirty="0">
              <a:ln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influences </a:t>
          </a:r>
          <a:r>
            <a:rPr lang="en-US" sz="3100" b="1" kern="1200" dirty="0">
              <a:ln>
                <a:noFill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engineering and technology</a:t>
          </a:r>
          <a:r>
            <a:rPr lang="en-US" sz="3100" b="1" kern="1200" dirty="0">
              <a:ln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advancement (e.g. Power production in Germany after Fukushima).</a:t>
          </a:r>
          <a:endParaRPr lang="en-US" sz="3100" kern="1200" dirty="0">
            <a:ln>
              <a:noFill/>
            </a:ln>
            <a:solidFill>
              <a:schemeClr val="bg1"/>
            </a:solidFill>
          </a:endParaRPr>
        </a:p>
      </dsp:txBody>
      <dsp:txXfrm>
        <a:off x="101940" y="1699931"/>
        <a:ext cx="3276617" cy="4350253"/>
      </dsp:txXfrm>
    </dsp:sp>
    <dsp:sp modelId="{D0009668-6DE2-4CF4-8D1C-F209EE56B56F}">
      <dsp:nvSpPr>
        <dsp:cNvPr id="0" name=""/>
        <dsp:cNvSpPr/>
      </dsp:nvSpPr>
      <dsp:spPr>
        <a:xfrm>
          <a:off x="3823020" y="1594218"/>
          <a:ext cx="3480497" cy="4554133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2"/>
            </a:buClr>
            <a:buSzPct val="80000"/>
            <a:buNone/>
          </a:pPr>
          <a:r>
            <a:rPr lang="en-US" sz="31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Because of history, any technological development will raise many questions regarding its </a:t>
          </a:r>
          <a:r>
            <a:rPr lang="en-US" sz="3100" b="1" kern="12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societal impact and ethics</a:t>
          </a:r>
          <a:r>
            <a:rPr lang="en-US" sz="31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3100" kern="1200" dirty="0">
            <a:solidFill>
              <a:schemeClr val="bg1"/>
            </a:solidFill>
          </a:endParaRPr>
        </a:p>
      </dsp:txBody>
      <dsp:txXfrm>
        <a:off x="3924960" y="1696158"/>
        <a:ext cx="3276617" cy="4350253"/>
      </dsp:txXfrm>
    </dsp:sp>
    <dsp:sp modelId="{E356F199-CDC8-4681-BCD2-EC7F8A942AD5}">
      <dsp:nvSpPr>
        <dsp:cNvPr id="0" name=""/>
        <dsp:cNvSpPr/>
      </dsp:nvSpPr>
      <dsp:spPr>
        <a:xfrm>
          <a:off x="7566617" y="1594218"/>
          <a:ext cx="3480497" cy="4554133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2"/>
            </a:buClr>
            <a:buSzPct val="80000"/>
            <a:buFont typeface="Wingdings" pitchFamily="2" charset="2"/>
            <a:buNone/>
          </a:pPr>
          <a:r>
            <a:rPr lang="en-US" sz="31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Engineering </a:t>
          </a:r>
          <a:r>
            <a:rPr lang="en-US" sz="3100" b="1" kern="12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professional ethics</a:t>
          </a:r>
          <a:r>
            <a:rPr lang="en-US" sz="31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provide assurance to the public in exchange for autonomy.</a:t>
          </a:r>
          <a:endParaRPr lang="en-US" sz="3100" kern="1200" dirty="0">
            <a:solidFill>
              <a:schemeClr val="bg1"/>
            </a:solidFill>
          </a:endParaRPr>
        </a:p>
      </dsp:txBody>
      <dsp:txXfrm>
        <a:off x="7668557" y="1696158"/>
        <a:ext cx="3276617" cy="43502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7F5F9-1499-4004-A29A-5102CC3187BF}">
      <dsp:nvSpPr>
        <dsp:cNvPr id="0" name=""/>
        <dsp:cNvSpPr/>
      </dsp:nvSpPr>
      <dsp:spPr>
        <a:xfrm>
          <a:off x="0" y="0"/>
          <a:ext cx="10830811" cy="804147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99FF66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protect the public health and welfare at all stages</a:t>
          </a:r>
          <a:endParaRPr lang="en-US" sz="3200" kern="1200" dirty="0"/>
        </a:p>
      </dsp:txBody>
      <dsp:txXfrm>
        <a:off x="0" y="0"/>
        <a:ext cx="10830811" cy="804147"/>
      </dsp:txXfrm>
    </dsp:sp>
    <dsp:sp modelId="{5BA844C2-7389-4680-9DF6-99F6F9CB138A}">
      <dsp:nvSpPr>
        <dsp:cNvPr id="0" name=""/>
        <dsp:cNvSpPr/>
      </dsp:nvSpPr>
      <dsp:spPr>
        <a:xfrm>
          <a:off x="15405" y="848589"/>
          <a:ext cx="10800000" cy="804147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66FFFF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include ethical considerations in their work at early stages</a:t>
          </a:r>
          <a:endParaRPr lang="en-US" sz="3200" kern="1200" dirty="0"/>
        </a:p>
      </dsp:txBody>
      <dsp:txXfrm>
        <a:off x="15405" y="848589"/>
        <a:ext cx="10800000" cy="804147"/>
      </dsp:txXfrm>
    </dsp:sp>
    <dsp:sp modelId="{13E8627A-C9B4-48DC-876E-5CD778F6562B}">
      <dsp:nvSpPr>
        <dsp:cNvPr id="0" name=""/>
        <dsp:cNvSpPr/>
      </dsp:nvSpPr>
      <dsp:spPr>
        <a:xfrm>
          <a:off x="0" y="1692944"/>
          <a:ext cx="10809936" cy="80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inform the public and the decision makers</a:t>
          </a:r>
          <a:endParaRPr lang="en-US" sz="3200" kern="1200" dirty="0"/>
        </a:p>
      </dsp:txBody>
      <dsp:txXfrm>
        <a:off x="0" y="1692944"/>
        <a:ext cx="10809936" cy="804147"/>
      </dsp:txXfrm>
    </dsp:sp>
    <dsp:sp modelId="{0A3ECFB2-C942-426D-93A4-F22313D922A2}">
      <dsp:nvSpPr>
        <dsp:cNvPr id="0" name=""/>
        <dsp:cNvSpPr/>
      </dsp:nvSpPr>
      <dsp:spPr>
        <a:xfrm>
          <a:off x="0" y="2537299"/>
          <a:ext cx="10830811" cy="969472"/>
        </a:xfrm>
        <a:prstGeom prst="rect">
          <a:avLst/>
        </a:prstGeom>
        <a:solidFill>
          <a:srgbClr val="01043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participate in policy making regarding technology – dual duty of informed citizens</a:t>
          </a:r>
        </a:p>
      </dsp:txBody>
      <dsp:txXfrm>
        <a:off x="0" y="2537299"/>
        <a:ext cx="10830811" cy="969472"/>
      </dsp:txXfrm>
    </dsp:sp>
    <dsp:sp modelId="{5BAEB274-935A-48AF-AF45-C610F886409F}">
      <dsp:nvSpPr>
        <dsp:cNvPr id="0" name=""/>
        <dsp:cNvSpPr/>
      </dsp:nvSpPr>
      <dsp:spPr>
        <a:xfrm>
          <a:off x="5204" y="3546979"/>
          <a:ext cx="10820401" cy="804147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protect and advance the profession</a:t>
          </a:r>
        </a:p>
      </dsp:txBody>
      <dsp:txXfrm>
        <a:off x="5204" y="3546979"/>
        <a:ext cx="10820401" cy="804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FB664-3308-4C0F-BCB0-B829345ED793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550CF-1248-40E2-A533-F25CCFE49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53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7"/>
            <a:ext cx="6400800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3361EF5-0C33-4BAC-AE54-D8235AB3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</p:spPr>
        <p:txBody>
          <a:bodyPr/>
          <a:lstStyle>
            <a:lvl1pPr>
              <a:defRPr sz="1051"/>
            </a:lvl1pPr>
          </a:lstStyle>
          <a:p>
            <a:fld id="{E406BB5C-16AF-4559-B486-ED54C1F72BC6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D90AC49-E3D6-4556-A6B9-CD2F61CA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3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F2FFAB92-60EB-4548-AE5C-87CEBA691467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6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753535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6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3"/>
            <a:ext cx="6991492" cy="36406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140495B-3524-45C9-976F-897610D5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9F1B8AE3-5E73-4199-9A91-8C4822CFC3C8}" type="datetime1">
              <a:rPr lang="en-US" smtClean="0"/>
              <a:t>9/28/2022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DC01890-B80D-48FF-8558-0A0F12D9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2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5DCC3C2-3C62-4E96-8E2F-ED2C2B93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057D252C-1A75-4315-82A5-F93360BCA603}" type="datetime1">
              <a:rPr lang="en-US" smtClean="0"/>
              <a:t>9/28/2022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BB3C16-A6D0-4D4D-B45C-A137FCDC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4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10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2" y="3132668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8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4B10A19-2CC1-4921-907A-7CAC9E3F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41DBA8EA-C5ED-4910-9CB3-1F3DAA9286E9}" type="datetime1">
              <a:rPr lang="en-US" smtClean="0"/>
              <a:t>9/28/2022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A97AB6-277F-47B0-B37E-46D2C14A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7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F05674E-792D-4351-AC04-5429E1D69B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50B6DF1D-7719-4CEB-9766-6F61C6FD15EE}" type="datetime1">
              <a:rPr lang="en-US" smtClean="0"/>
              <a:t>9/28/2022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1329E09-C3F0-47C2-8D84-5F677C69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97CA9A8-BBDB-4B52-A91F-681368E5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7EA5A665-1173-4B87-8673-CBC37118E898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F4DB-A0D0-4419-AFBC-41F104F5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3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1" y="746761"/>
            <a:ext cx="6510619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FD5064-1778-4777-88CC-464A3E4B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3F12D116-3682-4155-ACEE-96DE21B31FBC}" type="datetime1">
              <a:rPr lang="en-US" smtClean="0"/>
              <a:t>9/28/2022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59F38D7-5CDB-4521-8A94-B26CDA8D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7" y="751243"/>
            <a:ext cx="3644963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2E0FCA3-5316-42AE-897F-B3846214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2ADF203D-3DD5-4A27-B9D1-2FAC5603BB99}" type="datetime1">
              <a:rPr lang="en-US" smtClean="0"/>
              <a:t>9/28/2022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2FCF95D-F89F-4330-8D26-B9789DDB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5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2"/>
            <a:ext cx="10822035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41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7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80B2FC0-F1A9-4409-A2C8-D0C20210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3648B92C-32C3-4DE5-9E2D-E83A8B6AC307}" type="datetime1">
              <a:rPr lang="en-US" smtClean="0"/>
              <a:t>9/28/2022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34BFFEF-986F-49B7-9F46-5269C205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5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4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5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3D06FA7-B4B8-4B44-8478-506F22CB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ED4BDE87-196A-410F-8795-A4B8C38BFADE}" type="datetime1">
              <a:rPr lang="en-US" smtClean="0"/>
              <a:t>9/28/2022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CD7A642-1619-4AE9-A8D7-55D7ECE0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3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8" y="753534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8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8" y="3959864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1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1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6F3656B-334A-4945-9AE3-3E7D3407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3B32758C-DC8C-4C63-85FC-034A785D522C}" type="datetime1">
              <a:rPr lang="en-US" smtClean="0"/>
              <a:t>9/28/2022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8EA0028-C949-4F88-86CA-069429D1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8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3"/>
            <a:ext cx="10146187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7"/>
            <a:ext cx="10144655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8885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05FB0B8-BF13-4D12-8711-39273B00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2B753E1C-74D7-47ED-A593-D861A05A0082}" type="datetime1">
              <a:rPr lang="en-US" smtClean="0"/>
              <a:t>9/28/2022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F905D22-EE92-40F9-BC7E-64D50F5A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9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2" y="762001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9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2AE16C2-D1F7-4821-8D0A-112586FC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868A0ECD-0325-4F34-9C1C-FAEC28F7CC24}" type="datetime1">
              <a:rPr lang="en-US" smtClean="0"/>
              <a:t>9/28/2022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75FF8F4-5679-4947-A910-1964BE39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3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2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2"/>
            <a:ext cx="3451583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6"/>
            <a:ext cx="3451583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5" y="4191002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6" y="4873765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2" y="4191002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2" y="4873763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755735A-6948-46EF-9A52-32DB4028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5B928E7E-02A6-4D75-82BC-F5D049E91F64}" type="datetime1">
              <a:rPr lang="en-US" smtClean="0"/>
              <a:t>9/28/2022</a:t>
            </a:fld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45BA9B5-38EA-4B73-9D62-9B8FFBE3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3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61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C6A8B89-F71F-4C88-8CE5-2679F4B6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F59D7CAC-DDF7-4AED-AC87-05DC2E1EE0B9}" type="datetime1">
              <a:rPr lang="en-US" smtClean="0"/>
              <a:t>9/28/2022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11EE7D-670F-4908-81CD-09FFB246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2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8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8" y="745069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2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4ACCCEE-DD44-409E-AF47-A8F34B95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A7D392F4-20B8-46F0-B7D2-17B9653F55C9}" type="datetime1">
              <a:rPr lang="en-US" smtClean="0"/>
              <a:t>9/28/2022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CF933FF-4724-48B7-B8EC-0D42700A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8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61053" y="6319870"/>
            <a:ext cx="8586147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83D7BB3-43E0-49D1-B60C-C43A37D7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/>
          <a:p>
            <a:fld id="{649724F6-96D6-4F7E-8FAD-4C1E42E4BAA8}" type="datetime1">
              <a:rPr lang="en-US" smtClean="0"/>
              <a:t>9/28/2022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294600-C27F-4EA7-8B05-4DC28509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8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172200"/>
            <a:ext cx="3251200" cy="457200"/>
          </a:xfrm>
        </p:spPr>
        <p:txBody>
          <a:bodyPr/>
          <a:lstStyle>
            <a:lvl1pPr>
              <a:defRPr/>
            </a:lvl1pPr>
          </a:lstStyle>
          <a:p>
            <a:fld id="{4703DC4F-C5CA-4EE7-83CC-0F3B0F23786E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33600" y="6172200"/>
            <a:ext cx="80264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1722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E4CFF43-C2B3-44C2-B71C-2A2B356D17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40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172200"/>
            <a:ext cx="3251200" cy="457200"/>
          </a:xfrm>
        </p:spPr>
        <p:txBody>
          <a:bodyPr/>
          <a:lstStyle>
            <a:lvl1pPr>
              <a:defRPr/>
            </a:lvl1pPr>
          </a:lstStyle>
          <a:p>
            <a:fld id="{5CB4EBC3-94D8-4BE5-A219-8FCA04025E2F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133600" y="61722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1722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E4CFF43-C2B3-44C2-B71C-2A2B356D17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94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7"/>
            <a:ext cx="6400800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F0F6F9F-D14D-4D25-9384-CE737EB9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</p:spPr>
        <p:txBody>
          <a:bodyPr/>
          <a:lstStyle/>
          <a:p>
            <a:fld id="{67C27ADE-9D3A-4E38-B6B5-AB689C2DBD61}" type="datetime1">
              <a:rPr lang="en-US" smtClean="0"/>
              <a:t>9/28/2022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742CB1C-245C-40A8-A752-4BF60261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5A9C66-A2A1-42A7-ABE3-C027D64C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7410" y="6355846"/>
            <a:ext cx="1010479" cy="365125"/>
          </a:xfrm>
        </p:spPr>
        <p:txBody>
          <a:bodyPr/>
          <a:lstStyle/>
          <a:p>
            <a:fld id="{DC1F4439-1C98-4963-A85A-21FCF726A21E}" type="datetime1">
              <a:rPr lang="en-US" smtClean="0"/>
              <a:t>9/28/2022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2E53BC9-59D8-4AD1-8594-9079A16C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289" y="6355845"/>
            <a:ext cx="578836" cy="365125"/>
          </a:xfr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0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753535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6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79D6F5A-EC06-433D-AA82-7B113A933352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3"/>
            <a:ext cx="6991492" cy="36406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0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09F31E86-A327-49AB-8DC7-EED098AAB7CA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0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10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2" y="3132668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8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44777EC4-099C-4421-8C66-7304554BD8F0}" type="datetime1">
              <a:rPr lang="en-US" smtClean="0"/>
              <a:t>9/28/2022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5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50DD9840-0623-435D-B8CA-1C8C5EB8965B}" type="datetime1">
              <a:rPr lang="en-US" smtClean="0"/>
              <a:t>9/28/2022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9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1FF1F017-3E91-46DB-ADD8-84E81CF21D9D}" type="datetime1">
              <a:rPr lang="en-US" smtClean="0"/>
              <a:t>9/28/2022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5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1" y="746761"/>
            <a:ext cx="6510619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DF35CB26-5911-47F4-BB36-96A17CEFD67A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7" y="751243"/>
            <a:ext cx="3644963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D4CE41BE-54E9-4390-BDCD-407D9D335CD7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2"/>
            <a:ext cx="10822035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41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7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3241092E-B977-4997-905A-EB710AE6580F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2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4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5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82C05E4-757D-450F-82AB-12E600D74690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8" y="753534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8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8" y="3959864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B41DA0DB-7859-4D71-BA7F-BFC29D7A1665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1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1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508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3"/>
            <a:ext cx="10146187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7"/>
            <a:ext cx="10144655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5"/>
            <a:ext cx="291084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6771E02-FC5D-463B-8CAD-06CD1F36753E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8885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1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2" y="762001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9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FBBA2B3B-5484-4714-84F8-D326D7D9425E}" type="datetime1">
              <a:rPr lang="en-US" smtClean="0"/>
              <a:t>9/28/2022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2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2"/>
            <a:ext cx="3451583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6"/>
            <a:ext cx="3451583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5" y="4191002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6" y="4873765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2" y="4191002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2" y="4873763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A535CC55-222E-46C3-B938-3D64906DE59A}" type="datetime1">
              <a:rPr lang="en-US" smtClean="0"/>
              <a:t>9/28/2022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8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61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/>
          <a:lstStyle/>
          <a:p>
            <a:fld id="{115F6669-1882-47F8-855C-2836FED06029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3000" y="330668"/>
            <a:ext cx="2743200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0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8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8" y="745069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3"/>
            <a:ext cx="291084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6547E8D6-EEA8-47AD-AFBA-1AB69C48213F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2"/>
            <a:ext cx="6991492" cy="365125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  <a:prstGeom prst="rect">
            <a:avLst/>
          </a:prstGeom>
        </p:spPr>
        <p:txBody>
          <a:bodyPr/>
          <a:lstStyle/>
          <a:p>
            <a:fld id="{F69C0DC9-6AC2-4957-ACF5-8988C485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4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172200"/>
            <a:ext cx="4572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8C43251-4827-4731-BD82-5245D89AF154}" type="datetime1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0" y="61722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1722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A436CD8-124C-4A11-9B7F-6885AC378B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33529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2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6477F3C-E2C0-4453-8281-15A3A4D61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>
            <a:lvl1pPr>
              <a:defRPr sz="1051"/>
            </a:lvl1pPr>
          </a:lstStyle>
          <a:p>
            <a:fld id="{CB91A439-1BD4-4006-8C96-9F2B241E86C7}" type="datetime1">
              <a:rPr lang="en-US" smtClean="0"/>
              <a:t>9/28/2022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4E753A-4BAD-47EE-BDDA-A0F99FA45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56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54" r:id="rId19"/>
    <p:sldLayoutId id="2147483855" r:id="rId20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6552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2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C228278-80F0-4F00-A71B-8D94AB2C1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7410" y="6355846"/>
            <a:ext cx="1010479" cy="365125"/>
          </a:xfrm>
          <a:prstGeom prst="rect">
            <a:avLst/>
          </a:prstGeom>
        </p:spPr>
        <p:txBody>
          <a:bodyPr/>
          <a:lstStyle>
            <a:lvl1pPr>
              <a:defRPr sz="1051"/>
            </a:lvl1pPr>
          </a:lstStyle>
          <a:p>
            <a:fld id="{0477D872-8313-4E47-8B76-9966E79625E8}" type="datetime1">
              <a:rPr lang="en-US" smtClean="0"/>
              <a:t>9/28/2022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906FF49-C398-4770-B07C-BBA25A2A7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6289" y="6355845"/>
            <a:ext cx="578836" cy="3651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F69C0DC9-6AC2-4957-ACF5-8988C485B8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201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r" defTabSz="914377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jpe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1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https://www.rawpixel.com/search/risk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7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5ED6933-DD16-413E-8699-8F475A5C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72375" y="6356351"/>
            <a:ext cx="2910840" cy="365125"/>
          </a:xfrm>
        </p:spPr>
        <p:txBody>
          <a:bodyPr/>
          <a:lstStyle/>
          <a:p>
            <a:fld id="{B820210E-6A6F-46EB-8519-57282102FA31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CAA0802-7936-4AA6-A52E-33EBC212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B64D6-8BAB-4D74-8F4D-36436DAE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012" y="6341877"/>
            <a:ext cx="497253" cy="379095"/>
          </a:xfrm>
        </p:spPr>
        <p:txBody>
          <a:bodyPr/>
          <a:lstStyle/>
          <a:p>
            <a:fld id="{F69C0DC9-6AC2-4957-ACF5-8988C485B84C}" type="slidenum">
              <a:rPr lang="en-US"/>
              <a:t>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CA95B-B80D-4EC5-92ED-4C2E2AD8910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808356" y="387464"/>
            <a:ext cx="10652125" cy="2603643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dirty="0">
                <a:solidFill>
                  <a:srgbClr val="FFFF00"/>
                </a:solidFill>
                <a:latin typeface="Britannic Bold" panose="020B0903060703020204" pitchFamily="34" charset="0"/>
              </a:rPr>
              <a:t>Engineering Ethics and Societal Impact</a:t>
            </a:r>
            <a:endParaRPr lang="en-US" sz="2800" b="1" dirty="0">
              <a:solidFill>
                <a:srgbClr val="66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AD3B89B-5D28-44D4-8B15-550870A5001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6912" y="2931068"/>
            <a:ext cx="10798175" cy="2776358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Nael Barakat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Ph.D. P.Eng. FASME, 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sz="36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ABET-PEV, Fulbright Specialist</a:t>
            </a:r>
          </a:p>
          <a:p>
            <a:pPr marL="0" indent="0" algn="ctr">
              <a:buNone/>
            </a:pPr>
            <a:r>
              <a:rPr lang="en-US" sz="4000" b="1" i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and Chair of Mechanical Engineering</a:t>
            </a:r>
          </a:p>
          <a:p>
            <a:pPr marL="0" indent="0" algn="ctr">
              <a:buNone/>
            </a:pPr>
            <a:r>
              <a:rPr lang="en-US" sz="4000" b="1" i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Texas at Tyler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13A85E-3BF9-43B3-9EEB-C2EA35EC96CB}"/>
              </a:ext>
            </a:extLst>
          </p:cNvPr>
          <p:cNvGrpSpPr/>
          <p:nvPr/>
        </p:nvGrpSpPr>
        <p:grpSpPr>
          <a:xfrm>
            <a:off x="680382" y="5067259"/>
            <a:ext cx="2182091" cy="1327080"/>
            <a:chOff x="0" y="0"/>
            <a:chExt cx="1739480" cy="995430"/>
          </a:xfrm>
          <a:solidFill>
            <a:schemeClr val="tx1"/>
          </a:solidFill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8BA6FCF7-ABEB-4110-8A7B-33C91093E558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0" y="556895"/>
              <a:ext cx="1739480" cy="43853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100" b="1" kern="12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1200" dirty="0">
                  <a:solidFill>
                    <a:srgbClr val="44546A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Department of</a:t>
              </a:r>
              <a:endParaRPr lang="en-US" sz="1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1200" dirty="0">
                  <a:solidFill>
                    <a:srgbClr val="44546A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Mechanical Engineering</a:t>
              </a:r>
              <a:endParaRPr lang="en-US" sz="1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136C9B8-70FF-468A-BC72-11B45C931C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739265" cy="556895"/>
            </a:xfrm>
            <a:prstGeom prst="rect">
              <a:avLst/>
            </a:prstGeom>
            <a:grp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169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777D4-88F7-4C16-8558-0CC1D3D7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384" y="401587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Britannic Bold" panose="020B0903060703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AAFDC-063D-42F2-8E4F-1E214E5E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173" y="2059095"/>
            <a:ext cx="9773921" cy="373887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Context</a:t>
            </a:r>
          </a:p>
          <a:p>
            <a:r>
              <a:rPr lang="en-US" sz="4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</a:p>
          <a:p>
            <a:r>
              <a:rPr lang="en-US" sz="40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</a:t>
            </a:r>
          </a:p>
          <a:p>
            <a:r>
              <a:rPr lang="en-US" sz="40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Ethics</a:t>
            </a:r>
          </a:p>
          <a:p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6CB31-4A9D-4A63-A99B-ED6E3F47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0BED-0FE5-4CB4-97A5-87E8AAB4AC43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62369-0BB9-4BE1-A22D-DEB20BD3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A5D1F-F45A-43FC-BD7B-86FD729D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0DC9-6AC2-4957-ACF5-8988C485B84C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77A2F32-2DBA-4A37-92DF-493AFD98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9775" y="1230283"/>
            <a:ext cx="1566108" cy="95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BDAED2D3-4A57-400B-8689-915C99313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361" y="2186434"/>
            <a:ext cx="1582467" cy="101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24FE674-0F3C-42F5-BBF7-DD8C121B4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869" y="4210011"/>
            <a:ext cx="1557503" cy="106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187715-4363-40C2-B745-AC8BC10D9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393" y="3198223"/>
            <a:ext cx="1677936" cy="101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B866D96-7CBF-46FE-8DB1-DBEFDD7D5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108" y="5266754"/>
            <a:ext cx="1547517" cy="106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95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42461"/>
            <a:ext cx="9947564" cy="1530927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Do we know something about professions?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562" y="1891149"/>
            <a:ext cx="10532727" cy="4572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a TV show about lawyers.</a:t>
            </a:r>
          </a:p>
          <a:p>
            <a:r>
              <a:rPr lang="en-US" sz="3600" b="1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a TV show about CSI.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see a police-person would you recognize him or her?</a:t>
            </a:r>
          </a:p>
          <a:p>
            <a:r>
              <a:rPr lang="en-US" sz="3600" b="1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you get to meet the MD if you are sick and need medication? </a:t>
            </a:r>
          </a:p>
          <a:p>
            <a:r>
              <a:rPr lang="en-US" sz="3600" b="1" i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So…You probably can say something about what these professionals do.</a:t>
            </a:r>
            <a:r>
              <a:rPr lang="en-US" sz="36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08708-9409-4D92-B292-C7A5570B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1060B-5BE0-463F-AB68-0D1C41D2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DC38-A98D-4002-895D-16BC83BB5BC0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966E6-B526-4EB7-9BD0-8DF8BBB6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A7F-1C42-48D2-8C4C-16181E22390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B0EE7A7-2BC9-4FFF-8853-934F2AB8E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440" y="62524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084" y="137031"/>
            <a:ext cx="10422083" cy="1565564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What about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5619" y="2092036"/>
            <a:ext cx="7772400" cy="4114800"/>
          </a:xfrm>
        </p:spPr>
        <p:txBody>
          <a:bodyPr/>
          <a:lstStyle/>
          <a:p>
            <a:r>
              <a:rPr lang="en-US" sz="4400" b="1" i="1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a TV show about engineers !!!</a:t>
            </a:r>
          </a:p>
        </p:txBody>
      </p:sp>
      <p:pic>
        <p:nvPicPr>
          <p:cNvPr id="5" name="Picture 4" descr="MCj0434403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48601" y="2888674"/>
            <a:ext cx="2207204" cy="3092144"/>
          </a:xfrm>
          <a:prstGeom prst="rect">
            <a:avLst/>
          </a:prstGeom>
          <a:noFill/>
          <a:ln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B7C34-310E-4132-AA40-54CA36D3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76BE3-46BD-4224-9493-1946E7F3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8E3B-0809-422D-B06C-6EF7C7F88B92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CE7E06-AEAB-4AB4-9DEA-954A43BF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A7F-1C42-48D2-8C4C-16181E22390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0121B37-C471-4450-A87A-25CA8C21D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440" y="62524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257" y="296357"/>
            <a:ext cx="10432473" cy="1463171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What Do Engineers Really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90205"/>
            <a:ext cx="10730345" cy="4205795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of us have used a:</a:t>
            </a:r>
          </a:p>
          <a:p>
            <a:pPr lvl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phones?</a:t>
            </a:r>
          </a:p>
          <a:p>
            <a:pPr lvl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Car?  Plane?  Train?</a:t>
            </a:r>
          </a:p>
          <a:p>
            <a:pPr lvl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Computer? </a:t>
            </a:r>
          </a:p>
          <a:p>
            <a:r>
              <a:rPr lang="en-US" sz="4000" i="1" dirty="0">
                <a:solidFill>
                  <a:srgbClr val="2DFF2D"/>
                </a:solidFill>
                <a:latin typeface="Ravie" pitchFamily="82" charset="0"/>
              </a:rPr>
              <a:t>How long can you survive without these?</a:t>
            </a:r>
            <a:endParaRPr lang="en-US" sz="4000" dirty="0">
              <a:solidFill>
                <a:srgbClr val="2DFF2D"/>
              </a:solidFill>
              <a:latin typeface="Ravie" pitchFamily="82" charset="0"/>
            </a:endParaRPr>
          </a:p>
        </p:txBody>
      </p:sp>
      <p:pic>
        <p:nvPicPr>
          <p:cNvPr id="5" name="Picture 5" descr="MCj0239207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57194" y="1472406"/>
            <a:ext cx="1606551" cy="1776413"/>
          </a:xfrm>
          <a:prstGeom prst="rect">
            <a:avLst/>
          </a:prstGeom>
          <a:noFill/>
          <a:ln/>
        </p:spPr>
      </p:pic>
      <p:pic>
        <p:nvPicPr>
          <p:cNvPr id="6" name="Picture 23" descr="j030549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87357" y="4300031"/>
            <a:ext cx="2038351" cy="1674813"/>
          </a:xfrm>
          <a:prstGeom prst="rect">
            <a:avLst/>
          </a:prstGeom>
          <a:noFill/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C4C450A-9FCD-45AD-A2B8-AEE717FB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5D4D158-76F4-4201-A9E6-05FBD0B5B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AEB9F-1E12-455E-82DA-31D62DF6DE28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FAA32-E984-4763-A7C4-893344C8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A7F-1C42-48D2-8C4C-16181E22390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3007CF5-F5CD-4957-B0BD-E9144898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440" y="62524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8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4988" y="152400"/>
            <a:ext cx="5888182" cy="990600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Engineering ?</a:t>
            </a:r>
          </a:p>
        </p:txBody>
      </p:sp>
      <p:pic>
        <p:nvPicPr>
          <p:cNvPr id="6" name="Picture 14" descr="4fda56014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0030" y="193965"/>
            <a:ext cx="2895600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8" descr="ManyCard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60030" y="2278061"/>
            <a:ext cx="2895600" cy="2065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problem solving.jpg"/>
          <p:cNvPicPr>
            <a:picLocks noChangeAspect="1"/>
          </p:cNvPicPr>
          <p:nvPr/>
        </p:nvPicPr>
        <p:blipFill>
          <a:blip r:embed="rId4"/>
          <a:srcRect l="16426" t="13454" r="17509" b="20444"/>
          <a:stretch>
            <a:fillRect/>
          </a:stretch>
        </p:blipFill>
        <p:spPr bwMode="auto">
          <a:xfrm>
            <a:off x="8760030" y="4343400"/>
            <a:ext cx="2895600" cy="223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46" y="1330033"/>
            <a:ext cx="7668491" cy="5015345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 </a:t>
            </a:r>
            <a:r>
              <a:rPr lang="en-US" sz="3600" b="1" i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knowledge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practical human use.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i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humanity </a:t>
            </a:r>
            <a:r>
              <a:rPr lang="en-US" sz="3600" b="1" i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satisfying their needs.</a:t>
            </a:r>
          </a:p>
          <a:p>
            <a:endParaRPr lang="en-US" sz="3600" b="1" i="1" dirty="0">
              <a:solidFill>
                <a:srgbClr val="00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i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and building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systems/devices that did not exist before for a practical use.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0675D-97B8-4F8B-8226-8AB2340C3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Dr. Nael Barakat, All rights reserved - Seminar Introduction to Engineering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7614CCD-87ED-4E50-B408-11B6CD98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196C-974F-4FB9-A146-2D1A131BE1DE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9C1D42-FE78-4752-ACA7-3C4BE9F0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A7F-1C42-48D2-8C4C-16181E22390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B14CC29-75EE-49B4-B3FF-68890219B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440" y="62524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28B9-F026-4CB5-9650-9F240753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174" y="182247"/>
            <a:ext cx="9541651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Definition of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D96E-DF60-4411-86B0-B64EFC59A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4" y="1728839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i="1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is the application of science and math to improve human life and society.</a:t>
            </a:r>
          </a:p>
          <a:p>
            <a:endParaRPr lang="en-US" sz="4000" b="1" dirty="0">
              <a:solidFill>
                <a:srgbClr val="FF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Imagination &amp; 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ingenuity to improve life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technology.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0053-EBDA-49F0-9E16-6B167B3F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CCFD-C546-48B9-9F8A-1F6D013C099F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5D47-C74D-470C-AF85-FEAC620B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0528A-DF21-49DC-9913-DA44DFAA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0DC9-6AC2-4957-ACF5-8988C485B84C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246355-79E1-4380-94D6-E3F4EF12C859}"/>
              </a:ext>
            </a:extLst>
          </p:cNvPr>
          <p:cNvGrpSpPr/>
          <p:nvPr/>
        </p:nvGrpSpPr>
        <p:grpSpPr>
          <a:xfrm>
            <a:off x="6006084" y="3323468"/>
            <a:ext cx="5969157" cy="3287965"/>
            <a:chOff x="6554147" y="1292403"/>
            <a:chExt cx="5404787" cy="2875071"/>
          </a:xfrm>
        </p:grpSpPr>
        <p:pic>
          <p:nvPicPr>
            <p:cNvPr id="3074" name="Picture 2" descr="Development Of Smartphone Application: Impacts On Logistics And  Transportation Industry">
              <a:extLst>
                <a:ext uri="{FF2B5EF4-FFF2-40B4-BE49-F238E27FC236}">
                  <a16:creationId xmlns:a16="http://schemas.microsoft.com/office/drawing/2014/main" id="{20D0344E-0B34-4B47-8A28-DD01CC1AD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4147" y="1292403"/>
              <a:ext cx="5404787" cy="22872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E64D1F99-2726-47D8-9C4E-05FB4849AA6C}"/>
                </a:ext>
              </a:extLst>
            </p:cNvPr>
            <p:cNvSpPr/>
            <p:nvPr/>
          </p:nvSpPr>
          <p:spPr>
            <a:xfrm>
              <a:off x="6902387" y="2991817"/>
              <a:ext cx="4884372" cy="1175657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i="1" dirty="0">
                  <a:solidFill>
                    <a:srgbClr val="FFFF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Engineering through Time</a:t>
              </a:r>
            </a:p>
          </p:txBody>
        </p:sp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6EE7039-4ABF-46AA-A32F-71B35F880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440" y="62524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50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543" y="152401"/>
            <a:ext cx="10439400" cy="10110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Britannic Bold" panose="020B0903060703020204" pitchFamily="34" charset="0"/>
              </a:rPr>
              <a:t>Why become an Engineer?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45473" y="1496292"/>
            <a:ext cx="77724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world, make a positive difference</a:t>
            </a:r>
          </a:p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be bored, be creative</a:t>
            </a:r>
          </a:p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great people</a:t>
            </a:r>
          </a:p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a big salary</a:t>
            </a:r>
          </a:p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</a:t>
            </a:r>
          </a:p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Enjoy job flexibility</a:t>
            </a:r>
          </a:p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problems, design things  that matter </a:t>
            </a:r>
          </a:p>
          <a:p>
            <a:pPr marL="109536" lvl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b="1" dirty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Love your work, AND live your life too!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17874" y="2851419"/>
            <a:ext cx="397625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9536" lvl="1">
              <a:buClr>
                <a:schemeClr val="accent1"/>
              </a:buClr>
            </a:pPr>
            <a:r>
              <a:rPr lang="en-US" sz="3200" b="1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 project has something new and unique…</a:t>
            </a:r>
          </a:p>
        </p:txBody>
      </p:sp>
      <p:pic>
        <p:nvPicPr>
          <p:cNvPr id="1026" name="Picture 2" descr="C:\Program Files\Microsoft Office\MEDIA\CAGCAT10\j0222015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2520" y="4496885"/>
            <a:ext cx="1780337" cy="1786739"/>
          </a:xfrm>
          <a:prstGeom prst="rect">
            <a:avLst/>
          </a:prstGeom>
          <a:noFill/>
        </p:spPr>
      </p:pic>
      <p:sp>
        <p:nvSpPr>
          <p:cNvPr id="8" name="Left Arrow 7"/>
          <p:cNvSpPr/>
          <p:nvPr/>
        </p:nvSpPr>
        <p:spPr bwMode="auto">
          <a:xfrm rot="828552">
            <a:off x="3532704" y="4407317"/>
            <a:ext cx="5715465" cy="48463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12700" cap="sq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450C3-572F-4D16-B080-6A7EC2CE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Dr. Nael Barakat, All rights reserved - Seminar Introduction to Engineering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7E8A7B0-5F43-47A3-A8D2-DCA10784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C226-8A56-41E7-B214-C69381EAD0F8}" type="datetime1">
              <a:rPr lang="en-US" smtClean="0"/>
              <a:t>9/28/2022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CC91CE-0E32-40DA-9995-20AC636B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B0F-71F1-4E4D-9094-30E3CAF49AE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Left Arrow 6">
            <a:extLst>
              <a:ext uri="{FF2B5EF4-FFF2-40B4-BE49-F238E27FC236}">
                <a16:creationId xmlns:a16="http://schemas.microsoft.com/office/drawing/2014/main" id="{A50228E1-4131-40E6-8F76-50E3E456F008}"/>
              </a:ext>
            </a:extLst>
          </p:cNvPr>
          <p:cNvSpPr/>
          <p:nvPr/>
        </p:nvSpPr>
        <p:spPr bwMode="auto">
          <a:xfrm rot="421025">
            <a:off x="5320746" y="2751125"/>
            <a:ext cx="2730833" cy="48463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12700" cap="sq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itchFamily="18" charset="0"/>
            </a:endParaRPr>
          </a:p>
        </p:txBody>
      </p:sp>
      <p:pic>
        <p:nvPicPr>
          <p:cNvPr id="14" name="Picture 3" descr="C:\Program Files\Microsoft Office\MEDIA\CAGCAT10\j0195812.wmf">
            <a:extLst>
              <a:ext uri="{FF2B5EF4-FFF2-40B4-BE49-F238E27FC236}">
                <a16:creationId xmlns:a16="http://schemas.microsoft.com/office/drawing/2014/main" id="{BDE2C3CA-39D9-44CB-961D-E0CE66799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</a:blip>
          <a:srcRect/>
          <a:stretch>
            <a:fillRect/>
          </a:stretch>
        </p:blipFill>
        <p:spPr bwMode="auto">
          <a:xfrm>
            <a:off x="8604034" y="1069239"/>
            <a:ext cx="1773023" cy="182422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15" name="Left Arrow 9">
            <a:extLst>
              <a:ext uri="{FF2B5EF4-FFF2-40B4-BE49-F238E27FC236}">
                <a16:creationId xmlns:a16="http://schemas.microsoft.com/office/drawing/2014/main" id="{D7145753-C91E-40A0-9377-373FBBE95B82}"/>
              </a:ext>
            </a:extLst>
          </p:cNvPr>
          <p:cNvSpPr/>
          <p:nvPr/>
        </p:nvSpPr>
        <p:spPr bwMode="auto">
          <a:xfrm rot="461893">
            <a:off x="5342227" y="2193248"/>
            <a:ext cx="3251380" cy="48463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12700" cap="sq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itchFamily="18" charset="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92605F5D-4031-4583-A702-F42C846BB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440" y="62524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8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ACC8-8BFA-496E-8671-58A47978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010" y="173695"/>
            <a:ext cx="10158975" cy="1293028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Context of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84470-D40F-4BD9-B823-B69D4DBC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0AE41-D52B-4C20-8DB7-FCED11483E04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FE356-9851-4BB0-8FB4-4BD72FBB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2466E-1D4C-4C89-97A3-D81A71D6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0DC9-6AC2-4957-ACF5-8988C485B84C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C4744450-8002-4305-BCAC-15BDBECAB5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732904"/>
              </p:ext>
            </p:extLst>
          </p:nvPr>
        </p:nvGraphicFramePr>
        <p:xfrm>
          <a:off x="691480" y="1397159"/>
          <a:ext cx="10820400" cy="4821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6FA46812-A462-4AC7-A5FE-8A0F6B2F7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894" y="82846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97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612" y="228600"/>
            <a:ext cx="11714747" cy="1447800"/>
          </a:xfrm>
        </p:spPr>
        <p:txBody>
          <a:bodyPr>
            <a:normAutofit/>
          </a:bodyPr>
          <a:lstStyle/>
          <a:p>
            <a:r>
              <a:rPr lang="en-US" sz="6000">
                <a:latin typeface="Britannic Bold" panose="020B0903060703020204" pitchFamily="34" charset="0"/>
              </a:rPr>
              <a:t>Impact?</a:t>
            </a:r>
            <a:endParaRPr lang="en-US" sz="6000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10010275" cy="44196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we need professional (engineering) ethics?</a:t>
            </a:r>
          </a:p>
          <a:p>
            <a:endParaRPr lang="en-US" sz="44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  <a:p>
            <a:pPr marL="1142971" lvl="1" indent="-742932">
              <a:buSzPct val="80000"/>
              <a:buFont typeface="+mj-lt"/>
              <a:buAutoNum type="arabicPeriod"/>
            </a:pP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(engineering) ethics? </a:t>
            </a:r>
          </a:p>
          <a:p>
            <a:pPr marL="1142971" lvl="1" indent="-742932">
              <a:buSzPct val="80000"/>
              <a:buFont typeface="+mj-lt"/>
              <a:buAutoNum type="arabicPeriod"/>
            </a:pP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responsibility?</a:t>
            </a:r>
            <a:r>
              <a:rPr lang="en-US" sz="24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B1056-F831-442E-A201-890143B2D648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F912C9-70AD-4E41-B61A-671854E25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017" y="120227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89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738294" y="6321213"/>
            <a:ext cx="6953815" cy="457200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68442" y="228600"/>
            <a:ext cx="11831053" cy="1447800"/>
          </a:xfrm>
        </p:spPr>
        <p:txBody>
          <a:bodyPr>
            <a:noAutofit/>
          </a:bodyPr>
          <a:lstStyle/>
          <a:p>
            <a:r>
              <a:rPr lang="en-US" sz="6000" dirty="0">
                <a:latin typeface="Britannic Bold" pitchFamily="34" charset="0"/>
              </a:rPr>
              <a:t>Example: </a:t>
            </a:r>
            <a:br>
              <a:rPr lang="en-US" sz="6000" dirty="0">
                <a:latin typeface="Britannic Bold" pitchFamily="34" charset="0"/>
              </a:rPr>
            </a:br>
            <a:r>
              <a:rPr lang="en-US" sz="6000" dirty="0">
                <a:latin typeface="Britannic Bold" pitchFamily="34" charset="0"/>
              </a:rPr>
              <a:t>The “FORD PINTO”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9390" y="1859283"/>
            <a:ext cx="7591839" cy="435864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1970s - Ford, under Lee Iacocca as president introduced the Ford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Pinto …!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was: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6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to weigh an ounce over 2,000 pounds</a:t>
            </a:r>
            <a:r>
              <a:rPr lang="en-US" sz="36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not to cost a cent over $2,000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 descr="pangra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8420521" y="1981201"/>
            <a:ext cx="2914651" cy="2001839"/>
          </a:xfrm>
          <a:noFill/>
          <a:ln/>
        </p:spPr>
      </p:pic>
      <p:pic>
        <p:nvPicPr>
          <p:cNvPr id="7174" name="Picture 6" descr="jnp1s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8210972" y="4572001"/>
            <a:ext cx="3200400" cy="1536700"/>
          </a:xfrm>
          <a:noFill/>
          <a:ln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603825" y="6366933"/>
            <a:ext cx="1232747" cy="262467"/>
          </a:xfrm>
        </p:spPr>
        <p:txBody>
          <a:bodyPr/>
          <a:lstStyle/>
          <a:p>
            <a:fld id="{12D7F432-CC03-4BDD-B442-29432370D6A5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264053" y="6294118"/>
            <a:ext cx="358987" cy="396239"/>
          </a:xfrm>
        </p:spPr>
        <p:txBody>
          <a:bodyPr/>
          <a:lstStyle/>
          <a:p>
            <a:fld id="{4E4CFF43-C2B3-44C2-B71C-2A2B356D1769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592EC1-BFE1-43D6-89F3-A36EAD316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017" y="120227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49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4748" y="224589"/>
            <a:ext cx="11558337" cy="1143000"/>
          </a:xfrm>
        </p:spPr>
        <p:txBody>
          <a:bodyPr>
            <a:noAutofit/>
          </a:bodyPr>
          <a:lstStyle/>
          <a:p>
            <a:r>
              <a:rPr lang="en-US" sz="6000" dirty="0">
                <a:latin typeface="Britannic Bold" panose="020B0903060703020204" pitchFamily="34" charset="0"/>
              </a:rPr>
              <a:t>The “FORD PINTO” Case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013" y="1544047"/>
            <a:ext cx="11353799" cy="44958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rear end collision, the gas tank ruptured causing a fire or explosion (1978) killing three.</a:t>
            </a:r>
          </a:p>
          <a:p>
            <a:pPr>
              <a:lnSpc>
                <a:spcPct val="90000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was not the first time … There were several previous lawsuits.</a:t>
            </a:r>
          </a:p>
          <a:p>
            <a:pPr>
              <a:lnSpc>
                <a:spcPct val="90000"/>
              </a:lnSpc>
            </a:pPr>
            <a:endParaRPr lang="en-US" sz="36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time: FORD was charged in a </a:t>
            </a:r>
            <a:r>
              <a:rPr lang="en-US" sz="36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criminal court...</a:t>
            </a:r>
            <a:r>
              <a:rPr lang="en-US" sz="3600" b="1" u="sng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will be different!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ABEE-8369-41FB-BA19-FAEAB4A556BC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ACCF3-AF60-4ABF-9F18-1D3DA6AC9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017" y="120227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09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3916" y="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Britannic Bold" pitchFamily="34" charset="0"/>
              </a:rPr>
              <a:t>Ford Pinto Tests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6984F-F8B3-4769-A1DA-636582F3D49D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1971 Chevrolet Impala Vs. 1972 Ford Pinto Full-Rear Impact (Legendary Crash Test!)">
            <a:hlinkClick r:id="" action="ppaction://media"/>
            <a:extLst>
              <a:ext uri="{FF2B5EF4-FFF2-40B4-BE49-F238E27FC236}">
                <a16:creationId xmlns:a16="http://schemas.microsoft.com/office/drawing/2014/main" id="{37B3259D-F1D2-4534-B953-DDD5852513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50920" y="1206579"/>
            <a:ext cx="9068691" cy="51011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F620B2-BFCA-4236-88DC-83724D783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017" y="120227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6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16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36885" y="533400"/>
            <a:ext cx="11502191" cy="1143000"/>
          </a:xfrm>
        </p:spPr>
        <p:txBody>
          <a:bodyPr>
            <a:noAutofit/>
          </a:bodyPr>
          <a:lstStyle/>
          <a:p>
            <a:r>
              <a:rPr lang="en-US" sz="6000" dirty="0">
                <a:latin typeface="Britannic Bold" panose="020B0903060703020204" pitchFamily="34" charset="0"/>
              </a:rPr>
              <a:t>The “FORD PINTO” Case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1" y="2057400"/>
            <a:ext cx="11109159" cy="39624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Pinto </a:t>
            </a:r>
            <a:r>
              <a:rPr lang="en-US" sz="3600" b="1" i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Federal safety standards </a:t>
            </a:r>
          </a:p>
          <a:p>
            <a:pPr>
              <a:buFont typeface="Wingdings" pitchFamily="2" charset="2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but </a:t>
            </a:r>
          </a:p>
          <a:p>
            <a:r>
              <a:rPr lang="en-US" sz="3600" b="1" i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Ford’s crash tests!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99FF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Engineers were aware of the flaws, but management wanted the product rapidly!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C2A7F-032D-4555-9E3A-DB7109AA5225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527456-519E-4BDE-9C0E-B0EB1F839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017" y="120227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81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228600"/>
            <a:ext cx="7772400" cy="1143000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Britannic Bold" pitchFamily="34" charset="0"/>
              </a:rPr>
              <a:t>The FORD PINTO Case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371602"/>
            <a:ext cx="2895600" cy="4759325"/>
          </a:xfrm>
        </p:spPr>
        <p:txBody>
          <a:bodyPr/>
          <a:lstStyle/>
          <a:p>
            <a:pPr marL="533387" indent="-533387"/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387" indent="-533387"/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387" indent="-533387">
              <a:buFont typeface="Wingdings" pitchFamily="2" charset="2"/>
              <a:buAutoNum type="arabicPeriod"/>
            </a:pP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 Every Car</a:t>
            </a:r>
          </a:p>
          <a:p>
            <a:pPr marL="533387" indent="-533387">
              <a:buFont typeface="Wingdings" pitchFamily="2" charset="2"/>
              <a:buAutoNum type="arabicPeriod"/>
            </a:pPr>
            <a:endParaRPr lang="en-US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387" indent="-533387">
              <a:buFont typeface="Wingdings" pitchFamily="2" charset="2"/>
              <a:buAutoNum type="arabicPeriod"/>
            </a:pP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Nothing</a:t>
            </a:r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68522" y="2519681"/>
            <a:ext cx="5958839" cy="63686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$ 11 per car </a:t>
            </a:r>
            <a:r>
              <a:rPr lang="en-US" sz="2800" b="1" noProof="1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3600" b="1" noProof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noProof="1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36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137,000,000</a:t>
            </a:r>
          </a:p>
        </p:txBody>
      </p:sp>
      <p:sp>
        <p:nvSpPr>
          <p:cNvPr id="250886" name="Rectangle 6"/>
          <p:cNvSpPr>
            <a:spLocks noChangeArrowheads="1"/>
          </p:cNvSpPr>
          <p:nvPr/>
        </p:nvSpPr>
        <p:spPr bwMode="auto">
          <a:xfrm>
            <a:off x="5181600" y="1447800"/>
            <a:ext cx="5257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sz="28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– Benefit Analysis With</a:t>
            </a:r>
            <a:r>
              <a:rPr lang="en-US" sz="36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projections</a:t>
            </a:r>
          </a:p>
        </p:txBody>
      </p:sp>
      <p:sp>
        <p:nvSpPr>
          <p:cNvPr id="250887" name="Rectangle 7"/>
          <p:cNvSpPr>
            <a:spLocks noChangeArrowheads="1"/>
          </p:cNvSpPr>
          <p:nvPr/>
        </p:nvSpPr>
        <p:spPr bwMode="auto">
          <a:xfrm rot="20089332">
            <a:off x="2111047" y="1593844"/>
            <a:ext cx="7696200" cy="355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9" rIns="92075" bIns="46039"/>
          <a:lstStyle/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en-US" sz="5400" b="1" i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records which were subpoenaed by courts and later published…!</a:t>
            </a:r>
          </a:p>
        </p:txBody>
      </p:sp>
      <p:sp>
        <p:nvSpPr>
          <p:cNvPr id="250888" name="Rectangle 8"/>
          <p:cNvSpPr>
            <a:spLocks noChangeArrowheads="1"/>
          </p:cNvSpPr>
          <p:nvPr/>
        </p:nvSpPr>
        <p:spPr bwMode="auto">
          <a:xfrm>
            <a:off x="1905000" y="1600200"/>
            <a:ext cx="2895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9" rIns="92075" bIns="46039"/>
          <a:lstStyle/>
          <a:p>
            <a:pPr marL="533387" indent="-533387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68AA8-2240-4489-86CE-462659A02CC2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58B7996-5CE7-4B5D-9A86-8E81A9CA2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654" y="3515360"/>
            <a:ext cx="6393751" cy="2733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en-US" sz="20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repair cost = </a:t>
            </a:r>
            <a:r>
              <a:rPr lang="en-US" sz="2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$700 per car (2100 burned vehicles)</a:t>
            </a:r>
          </a:p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en-US" sz="20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major burn injury cost =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$ 67,000 (180 serious burns)</a:t>
            </a:r>
          </a:p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en-US" sz="20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death cost = </a:t>
            </a:r>
            <a:r>
              <a:rPr lang="en-US" sz="2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$ 200,000 (180 burn death)</a:t>
            </a:r>
          </a:p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en-US" sz="20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to make changes </a:t>
            </a:r>
            <a:r>
              <a:rPr lang="en-US" sz="2000" b="1" noProof="1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3600" b="1" noProof="1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$49,500,000</a:t>
            </a:r>
            <a:endParaRPr lang="en-US" sz="3600" b="1" dirty="0">
              <a:solidFill>
                <a:srgbClr val="C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21566D2-0A65-4E23-A57A-77DB7A99F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183" y="1447800"/>
            <a:ext cx="5257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sz="28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– Benefit Analysis With</a:t>
            </a:r>
            <a:r>
              <a:rPr lang="en-US" sz="36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projections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CF724CB-57DD-42DF-87B5-980347E1F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017" y="120227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78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10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50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0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0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50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0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 decel="100000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build="p"/>
      <p:bldP spid="250884" grpId="0" build="p"/>
      <p:bldP spid="250886" grpId="0"/>
      <p:bldP spid="250887" grpId="0"/>
      <p:bldP spid="250888" grpId="0" build="allAtOnce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3529" y="420287"/>
            <a:ext cx="8610600" cy="1293028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Britannic Bold" panose="020B0903060703020204" pitchFamily="34" charset="0"/>
              </a:rPr>
              <a:t>Reaction …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02933"/>
            <a:ext cx="10820400" cy="343408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after hearing this story, what are your thoughts?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were receiving this info from the media, on which party would you place the blame?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554D3-7532-482D-B2BF-4C76ACF93F31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19" descr="MCj0434411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86800" y="152400"/>
            <a:ext cx="1625600" cy="1828800"/>
          </a:xfrm>
          <a:prstGeom prst="rect">
            <a:avLst/>
          </a:prstGeom>
          <a:noFill/>
          <a:ln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C12EB6-7075-44D2-8BA2-C31A11DDA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017" y="120227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61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705273" y="6247779"/>
            <a:ext cx="6551507" cy="457200"/>
          </a:xfrm>
        </p:spPr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1303422" y="1963817"/>
            <a:ext cx="9533021" cy="2887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891" indent="-342891" algn="ctr"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sz="4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Engineers had to </a:t>
            </a:r>
            <a:r>
              <a:rPr lang="en-US" sz="40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</a:p>
          <a:p>
            <a:pPr marL="342891" indent="-342891" algn="ctr"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sz="4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duty to the public </a:t>
            </a:r>
          </a:p>
          <a:p>
            <a:pPr marL="342891" indent="-342891" algn="ctr"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sz="4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 </a:t>
            </a:r>
          </a:p>
          <a:p>
            <a:pPr marL="342891" indent="-342891" algn="ctr"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sz="4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40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duty to the employer</a:t>
            </a:r>
            <a:r>
              <a:rPr lang="en-US" sz="4000" b="1" dirty="0">
                <a:solidFill>
                  <a:srgbClr val="99FF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1" y="228600"/>
            <a:ext cx="11630527" cy="1837267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itchFamily="34" charset="0"/>
              </a:rPr>
              <a:t>The dilemma of The Ford Pinto Case</a:t>
            </a:r>
            <a:endParaRPr lang="en-US" sz="3600" b="1" dirty="0">
              <a:solidFill>
                <a:schemeClr val="accent2"/>
              </a:solidFill>
              <a:latin typeface="Britannic Bold" pitchFamily="34" charset="0"/>
            </a:endParaRPr>
          </a:p>
        </p:txBody>
      </p:sp>
      <p:pic>
        <p:nvPicPr>
          <p:cNvPr id="182283" name="Picture 11" descr="MCj02392070000[1]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0060094" y="4395787"/>
            <a:ext cx="1606551" cy="1776413"/>
          </a:xfrm>
          <a:noFill/>
          <a:ln/>
        </p:spPr>
      </p:pic>
      <p:sp>
        <p:nvSpPr>
          <p:cNvPr id="182277" name="Rectangle 5"/>
          <p:cNvSpPr>
            <a:spLocks noChangeArrowheads="1"/>
          </p:cNvSpPr>
          <p:nvPr/>
        </p:nvSpPr>
        <p:spPr bwMode="auto">
          <a:xfrm>
            <a:off x="561474" y="5015207"/>
            <a:ext cx="8734927" cy="1211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891" indent="-34289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en-US" sz="3200" b="1" dirty="0">
                <a:solidFill>
                  <a:srgbClr val="FFFF00"/>
                </a:solidFill>
                <a:latin typeface="Ravie" pitchFamily="82" charset="0"/>
              </a:rPr>
              <a:t>Hold on a minute… What duty to the public?!?!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1811" y="6323358"/>
            <a:ext cx="1225975" cy="306044"/>
          </a:xfrm>
        </p:spPr>
        <p:txBody>
          <a:bodyPr/>
          <a:lstStyle/>
          <a:p>
            <a:fld id="{77784D8E-E92C-4E25-9E9C-05702CE32F92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257280" y="6323357"/>
            <a:ext cx="548640" cy="403015"/>
          </a:xfrm>
        </p:spPr>
        <p:txBody>
          <a:bodyPr/>
          <a:lstStyle/>
          <a:p>
            <a:fld id="{4E4CFF43-C2B3-44C2-B71C-2A2B356D1769}" type="slidenum">
              <a:rPr lang="en-US" smtClean="0"/>
              <a:t>17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C96731-A890-47C1-AEFB-924BADBC6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563" y="66039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23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6" grpId="0"/>
      <p:bldP spid="1822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AFFD-55FE-406D-B49A-389AAF96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51" y="296261"/>
            <a:ext cx="11610323" cy="1293028"/>
          </a:xfrm>
        </p:spPr>
        <p:txBody>
          <a:bodyPr>
            <a:noAutofit/>
          </a:bodyPr>
          <a:lstStyle/>
          <a:p>
            <a:pPr algn="ctr"/>
            <a:r>
              <a:rPr lang="en-US" sz="6000" b="1">
                <a:latin typeface="Britannic Bold" panose="020B0903060703020204" pitchFamily="34" charset="0"/>
              </a:rPr>
              <a:t>The Engineering Profession - I</a:t>
            </a:r>
            <a:endParaRPr lang="en-US" sz="6000" b="1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1151E-164C-47CC-BF52-D2518021A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55365"/>
            <a:ext cx="9736088" cy="4746279"/>
          </a:xfrm>
        </p:spPr>
        <p:txBody>
          <a:bodyPr>
            <a:normAutofit/>
          </a:bodyPr>
          <a:lstStyle/>
          <a:p>
            <a:pPr marL="609579" indent="-609579"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sz="4000" b="1" u="sng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 -</a:t>
            </a:r>
            <a:r>
              <a:rPr lang="en-US" sz="4000" b="1" u="sng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membership requires:</a:t>
            </a:r>
          </a:p>
          <a:p>
            <a:pPr marL="990566" lvl="1" indent="-533381">
              <a:spcBef>
                <a:spcPct val="20000"/>
              </a:spcBef>
              <a:buFont typeface="Wingdings" pitchFamily="2" charset="2"/>
              <a:buAutoNum type="alphaUcPeriod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Extensive formal </a:t>
            </a:r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and training of intellectual character.</a:t>
            </a:r>
          </a:p>
          <a:p>
            <a:pPr marL="990566" lvl="1" indent="-533381">
              <a:spcBef>
                <a:spcPct val="20000"/>
              </a:spcBef>
              <a:buFont typeface="Wingdings" pitchFamily="2" charset="2"/>
              <a:buAutoNum type="alphaUcPeriod"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 skills, </a:t>
            </a:r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autonomy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, and use of judgment; not routine.</a:t>
            </a:r>
          </a:p>
          <a:p>
            <a:pPr marL="533377" indent="-533381">
              <a:spcBef>
                <a:spcPct val="20000"/>
              </a:spcBef>
              <a:buFont typeface="Wingdings" pitchFamily="2" charset="2"/>
              <a:buAutoNum type="arabicPeriod"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377" indent="-533381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4000" b="1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managing the complex </a:t>
            </a:r>
            <a:r>
              <a:rPr lang="en-US" sz="4000" b="1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en-US" sz="4000" b="1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high uncertainty and </a:t>
            </a:r>
            <a:r>
              <a:rPr lang="en-US" sz="4000" b="1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US" sz="4000" b="1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solidFill>
                <a:srgbClr val="66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6868E-84F6-442A-B4AB-785EF565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8420-251D-418E-ADDD-14A8EEC82A7F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E788F-B684-4B8A-9C9B-6794BAA4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0FB6B-BCC7-4931-8931-BEA7881E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0DC9-6AC2-4957-ACF5-8988C485B84C}" type="slidenum">
              <a:rPr lang="en-US" smtClean="0"/>
              <a:t>18</a:t>
            </a:fld>
            <a:endParaRPr lang="en-US" dirty="0"/>
          </a:p>
        </p:txBody>
      </p:sp>
      <p:pic>
        <p:nvPicPr>
          <p:cNvPr id="5122" name="Picture 2" descr="Complexity. Change Management | Jos Voskuil's Weblog">
            <a:extLst>
              <a:ext uri="{FF2B5EF4-FFF2-40B4-BE49-F238E27FC236}">
                <a16:creationId xmlns:a16="http://schemas.microsoft.com/office/drawing/2014/main" id="{F54F038A-E4A9-40EB-B90F-9A505393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551" y="2205819"/>
            <a:ext cx="197167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468465D3-7692-40AB-856F-0A31CAFFB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307491" y="4689098"/>
            <a:ext cx="1549735" cy="1032511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8D89532-603F-45C8-94E7-ED4E79305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53410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21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3"/>
          <p:cNvSpPr>
            <a:spLocks noGrp="1" noChangeArrowheads="1"/>
          </p:cNvSpPr>
          <p:nvPr>
            <p:ph type="title"/>
          </p:nvPr>
        </p:nvSpPr>
        <p:spPr>
          <a:xfrm>
            <a:off x="136313" y="60099"/>
            <a:ext cx="11949671" cy="1293028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The Engineering Profession - II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91C82-CE6A-47D8-9611-77AEDFEB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36D8E6-4E9F-48EC-998D-91834CE94128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2FF3F-B9C3-4678-9A87-FED30AF1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F2AEE-0A5F-44E6-8C15-03AC7963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046632" y="6406964"/>
            <a:ext cx="647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189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377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566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AD363B5A-BF3F-476F-8268-63FCDAE8CCE5}" type="slidenum">
              <a:rPr lang="en-US" altLang="en-US" sz="2000"/>
              <a:pPr>
                <a:defRPr/>
              </a:pPr>
              <a:t>19</a:t>
            </a:fld>
            <a:endParaRPr lang="en-US" altLang="en-US" sz="2000" dirty="0"/>
          </a:p>
        </p:txBody>
      </p:sp>
      <p:sp>
        <p:nvSpPr>
          <p:cNvPr id="131078" name="Rectangle 6"/>
          <p:cNvSpPr>
            <a:spLocks noChangeArrowheads="1"/>
          </p:cNvSpPr>
          <p:nvPr/>
        </p:nvSpPr>
        <p:spPr bwMode="auto">
          <a:xfrm>
            <a:off x="499795" y="1368772"/>
            <a:ext cx="11336283" cy="487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579" indent="-609579">
              <a:spcBef>
                <a:spcPct val="20000"/>
              </a:spcBef>
              <a:buClr>
                <a:srgbClr val="66FFFF"/>
              </a:buClr>
              <a:buFont typeface="+mj-lt"/>
              <a:buAutoNum type="arabicPeriod" startAt="3"/>
            </a:pPr>
            <a:r>
              <a:rPr lang="en-US" sz="4000" b="1" u="sng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-</a:t>
            </a:r>
            <a:r>
              <a:rPr lang="en-US" sz="4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public and society:</a:t>
            </a:r>
          </a:p>
          <a:p>
            <a:pPr marL="990566" lvl="1" indent="-533381">
              <a:spcBef>
                <a:spcPct val="20000"/>
              </a:spcBef>
              <a:buFont typeface="Wingdings" pitchFamily="2" charset="2"/>
              <a:buAutoNum type="alphaU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Vitally need the knowledge and skills of the members for society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well-being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90566" lvl="1" indent="-533381">
              <a:spcBef>
                <a:spcPct val="20000"/>
              </a:spcBef>
              <a:buFont typeface="Wingdings" pitchFamily="2" charset="2"/>
              <a:buAutoNum type="alphaU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… allow professional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self control/set/enforce the practice.</a:t>
            </a:r>
          </a:p>
          <a:p>
            <a:pPr marL="990566" lvl="1" indent="-533381">
              <a:spcBef>
                <a:spcPct val="20000"/>
              </a:spcBef>
              <a:buFont typeface="Wingdings" pitchFamily="2" charset="2"/>
              <a:buAutoNum type="alphaUcPeriod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8638" indent="-668638">
              <a:spcBef>
                <a:spcPct val="20000"/>
              </a:spcBef>
              <a:buClr>
                <a:srgbClr val="66FFFF"/>
              </a:buClr>
              <a:buFont typeface="+mj-lt"/>
              <a:buAutoNum type="arabicPeriod" startAt="3"/>
            </a:pPr>
            <a:r>
              <a:rPr lang="en-US" sz="40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Professionals are normally regulated by ethical standards, embodied in a</a:t>
            </a:r>
            <a:r>
              <a: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of Ethics</a:t>
            </a:r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19" descr="MCj04344110000[1]">
            <a:extLst>
              <a:ext uri="{FF2B5EF4-FFF2-40B4-BE49-F238E27FC236}">
                <a16:creationId xmlns:a16="http://schemas.microsoft.com/office/drawing/2014/main" id="{F68582BB-F333-4470-AE4C-0777A5403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01493" y="3153765"/>
            <a:ext cx="1625600" cy="1828800"/>
          </a:xfrm>
          <a:prstGeom prst="rect">
            <a:avLst/>
          </a:prstGeom>
          <a:noFill/>
          <a:ln/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9BA0117F-E2D5-4B99-8B46-B7F5986DE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66958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88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189443" name="Text Box 3"/>
          <p:cNvSpPr txBox="1">
            <a:spLocks noChangeArrowheads="1"/>
          </p:cNvSpPr>
          <p:nvPr/>
        </p:nvSpPr>
        <p:spPr bwMode="auto">
          <a:xfrm>
            <a:off x="6324600" y="4038601"/>
            <a:ext cx="3429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4495800" y="3581401"/>
            <a:ext cx="2667000" cy="1569660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involves a risk factor</a:t>
            </a:r>
          </a:p>
        </p:txBody>
      </p:sp>
      <p:sp>
        <p:nvSpPr>
          <p:cNvPr id="189445" name="Text Box 5"/>
          <p:cNvSpPr txBox="1">
            <a:spLocks noChangeArrowheads="1"/>
          </p:cNvSpPr>
          <p:nvPr/>
        </p:nvSpPr>
        <p:spPr bwMode="auto">
          <a:xfrm>
            <a:off x="7692191" y="1656437"/>
            <a:ext cx="3352800" cy="156966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the unknown through innovation</a:t>
            </a:r>
          </a:p>
        </p:txBody>
      </p:sp>
      <p:sp>
        <p:nvSpPr>
          <p:cNvPr id="189446" name="Rectangle 6"/>
          <p:cNvSpPr>
            <a:spLocks noChangeArrowheads="1"/>
          </p:cNvSpPr>
          <p:nvPr/>
        </p:nvSpPr>
        <p:spPr bwMode="auto">
          <a:xfrm>
            <a:off x="4419600" y="5592764"/>
            <a:ext cx="2819400" cy="5847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Liability issues</a:t>
            </a:r>
          </a:p>
        </p:txBody>
      </p:sp>
      <p:sp>
        <p:nvSpPr>
          <p:cNvPr id="189450" name="Rectangle 10"/>
          <p:cNvSpPr>
            <a:spLocks noChangeArrowheads="1"/>
          </p:cNvSpPr>
          <p:nvPr/>
        </p:nvSpPr>
        <p:spPr bwMode="auto">
          <a:xfrm>
            <a:off x="4053639" y="665408"/>
            <a:ext cx="3657600" cy="5847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Nature</a:t>
            </a:r>
          </a:p>
        </p:txBody>
      </p:sp>
      <p:sp>
        <p:nvSpPr>
          <p:cNvPr id="189451" name="Line 11"/>
          <p:cNvSpPr>
            <a:spLocks noChangeShapeType="1"/>
          </p:cNvSpPr>
          <p:nvPr/>
        </p:nvSpPr>
        <p:spPr bwMode="auto">
          <a:xfrm>
            <a:off x="6461962" y="1440240"/>
            <a:ext cx="1181101" cy="455080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452" name="Line 12"/>
          <p:cNvSpPr>
            <a:spLocks noChangeShapeType="1"/>
          </p:cNvSpPr>
          <p:nvPr/>
        </p:nvSpPr>
        <p:spPr bwMode="auto">
          <a:xfrm flipH="1">
            <a:off x="7239001" y="3845851"/>
            <a:ext cx="1953127" cy="559464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453" name="Rectangle 13"/>
          <p:cNvSpPr>
            <a:spLocks noChangeArrowheads="1"/>
          </p:cNvSpPr>
          <p:nvPr/>
        </p:nvSpPr>
        <p:spPr bwMode="auto">
          <a:xfrm>
            <a:off x="910389" y="1588785"/>
            <a:ext cx="3048000" cy="156966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and Interaction Unknowns</a:t>
            </a:r>
          </a:p>
        </p:txBody>
      </p:sp>
      <p:sp>
        <p:nvSpPr>
          <p:cNvPr id="189458" name="Line 18"/>
          <p:cNvSpPr>
            <a:spLocks noChangeShapeType="1"/>
          </p:cNvSpPr>
          <p:nvPr/>
        </p:nvSpPr>
        <p:spPr bwMode="auto">
          <a:xfrm flipH="1">
            <a:off x="4053639" y="1440240"/>
            <a:ext cx="1181100" cy="533400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459" name="Line 19"/>
          <p:cNvSpPr>
            <a:spLocks noChangeShapeType="1"/>
          </p:cNvSpPr>
          <p:nvPr/>
        </p:nvSpPr>
        <p:spPr bwMode="auto">
          <a:xfrm>
            <a:off x="2506579" y="3771901"/>
            <a:ext cx="1913021" cy="633415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460" name="Line 20"/>
          <p:cNvSpPr>
            <a:spLocks noChangeShapeType="1"/>
          </p:cNvSpPr>
          <p:nvPr/>
        </p:nvSpPr>
        <p:spPr bwMode="auto">
          <a:xfrm flipH="1">
            <a:off x="5867400" y="5181600"/>
            <a:ext cx="0" cy="381000"/>
          </a:xfrm>
          <a:prstGeom prst="line">
            <a:avLst/>
          </a:prstGeom>
          <a:noFill/>
          <a:ln w="762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7C961-5CE2-451B-80D7-4697168F02B4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20</a:t>
            </a:fld>
            <a:endParaRPr lang="en-US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E45550CF-4EF4-42B6-B129-E1B1916ED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66958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84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3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8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/>
      <p:bldP spid="189444" grpId="0" animBg="1"/>
      <p:bldP spid="189445" grpId="0" animBg="1"/>
      <p:bldP spid="189446" grpId="0" animBg="1"/>
      <p:bldP spid="189450" grpId="0" animBg="1"/>
      <p:bldP spid="189451" grpId="0" animBg="1"/>
      <p:bldP spid="189452" grpId="0" animBg="1"/>
      <p:bldP spid="189453" grpId="0" animBg="1"/>
      <p:bldP spid="189458" grpId="0" animBg="1"/>
      <p:bldP spid="189459" grpId="0" animBg="1"/>
      <p:bldP spid="18946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28B9-F026-4CB5-9650-9F240753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62" y="400881"/>
            <a:ext cx="11784969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Does Technology Really influence human life &amp; society?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D96E-DF60-4411-86B0-B64EFC59A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26" y="1823117"/>
            <a:ext cx="8601547" cy="4619555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woke up this morning and found no electricity and no cell tower functional.  What is your reaction?</a:t>
            </a:r>
          </a:p>
          <a:p>
            <a:r>
              <a:rPr lang="en-US" sz="36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was no cooking gas!</a:t>
            </a:r>
          </a:p>
          <a:p>
            <a:r>
              <a:rPr lang="en-US" sz="3600" b="1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vehicle that transports you every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morning did not start!</a:t>
            </a:r>
            <a:endParaRPr lang="en-US" sz="3600" b="1" i="1" dirty="0">
              <a:solidFill>
                <a:srgbClr val="2DFF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i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long can you survive without these?</a:t>
            </a:r>
            <a:endParaRPr lang="en-US" sz="3600" b="1" dirty="0">
              <a:solidFill>
                <a:srgbClr val="FF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0053-EBDA-49F0-9E16-6B167B3F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D02E-86E4-40B4-997C-26367F28B50C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5D47-C74D-470C-AF85-FEAC620B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0528A-DF21-49DC-9913-DA44DFAA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0DC9-6AC2-4957-ACF5-8988C485B84C}" type="slidenum">
              <a:rPr lang="en-US" smtClean="0"/>
              <a:t>21</a:t>
            </a:fld>
            <a:endParaRPr lang="en-US"/>
          </a:p>
        </p:txBody>
      </p:sp>
      <p:pic>
        <p:nvPicPr>
          <p:cNvPr id="2050" name="Picture 2" descr="Scared Stock Vector Illustration and Royalty Free Scared Clipart">
            <a:extLst>
              <a:ext uri="{FF2B5EF4-FFF2-40B4-BE49-F238E27FC236}">
                <a16:creationId xmlns:a16="http://schemas.microsoft.com/office/drawing/2014/main" id="{444068BC-1623-4F73-B30A-F9785648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825" y="1908542"/>
            <a:ext cx="2781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D04C87-AF23-4F47-85DE-F1BA84F00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563" y="66039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5379C45-3C50-4F11-BAFA-7C32CA160182}"/>
              </a:ext>
            </a:extLst>
          </p:cNvPr>
          <p:cNvGrpSpPr/>
          <p:nvPr/>
        </p:nvGrpSpPr>
        <p:grpSpPr>
          <a:xfrm>
            <a:off x="9062601" y="3974663"/>
            <a:ext cx="2943739" cy="1908391"/>
            <a:chOff x="9062601" y="3974663"/>
            <a:chExt cx="2943739" cy="190839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4CA277A-DC3C-4EB1-A5FE-341B000E0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62601" y="3974663"/>
              <a:ext cx="2852524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77C511-10FC-4D42-BCE2-308A6D5A37DD}"/>
                </a:ext>
              </a:extLst>
            </p:cNvPr>
            <p:cNvSpPr txBox="1"/>
            <p:nvPr/>
          </p:nvSpPr>
          <p:spPr>
            <a:xfrm>
              <a:off x="9297776" y="5513722"/>
              <a:ext cx="2708564" cy="369332"/>
            </a:xfrm>
            <a:prstGeom prst="rect">
              <a:avLst/>
            </a:prstGeom>
            <a:solidFill>
              <a:schemeClr val="bg1">
                <a:lumMod val="95000"/>
                <a:lumOff val="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429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E2B0-8075-4445-8C21-F98A4190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9" y="140394"/>
            <a:ext cx="10291131" cy="3218156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latin typeface="Britannic Bold" panose="020B0903060703020204" pitchFamily="34" charset="0"/>
              </a:rPr>
              <a:t>Reality: Here is the World without Engineering</a:t>
            </a:r>
            <a:br>
              <a:rPr lang="en-US" sz="6000" dirty="0">
                <a:latin typeface="Britannic Bold" panose="020B0903060703020204" pitchFamily="34" charset="0"/>
              </a:rPr>
            </a:br>
            <a:br>
              <a:rPr lang="en-US" sz="6000" dirty="0">
                <a:solidFill>
                  <a:srgbClr val="FFFF00"/>
                </a:solidFill>
                <a:latin typeface="Britannic Bold" panose="020B0903060703020204" pitchFamily="34" charset="0"/>
              </a:rPr>
            </a:br>
            <a:r>
              <a:rPr lang="en-US" sz="4400" dirty="0">
                <a:solidFill>
                  <a:srgbClr val="FFFF00"/>
                </a:solidFill>
                <a:latin typeface="Britannic Bold" panose="020B0903060703020204" pitchFamily="34" charset="0"/>
              </a:rPr>
              <a:t>Computers!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7E56D-3C21-4FE1-972A-309AB253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E1F9-1EDB-49AA-A3FA-484D200DC4C5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AF43D-840E-4405-996B-9B837658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F9AEB-9D6C-488B-8BCF-4BF768C2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0DC9-6AC2-4957-ACF5-8988C485B84C}" type="slidenum">
              <a:rPr lang="en-US" smtClean="0"/>
              <a:t>22</a:t>
            </a:fld>
            <a:endParaRPr lang="en-US"/>
          </a:p>
        </p:txBody>
      </p:sp>
      <p:pic>
        <p:nvPicPr>
          <p:cNvPr id="7" name="Content Placeholder 4" descr="Computers.jpg">
            <a:extLst>
              <a:ext uri="{FF2B5EF4-FFF2-40B4-BE49-F238E27FC236}">
                <a16:creationId xmlns:a16="http://schemas.microsoft.com/office/drawing/2014/main" id="{D9BFCCA2-32EE-4D48-B2B7-2BA757C6A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7902" y="1879917"/>
            <a:ext cx="5798415" cy="448059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A8DA36-60D8-4F0D-9F6E-BA88C043D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563" y="66039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8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E2B0-8075-4445-8C21-F98A4190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9" y="140394"/>
            <a:ext cx="10291131" cy="3218156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latin typeface="Britannic Bold" panose="020B0903060703020204" pitchFamily="34" charset="0"/>
              </a:rPr>
              <a:t>Reality: Here is the World without Engineering</a:t>
            </a:r>
            <a:br>
              <a:rPr lang="en-US" sz="6000" dirty="0">
                <a:latin typeface="Britannic Bold" panose="020B0903060703020204" pitchFamily="34" charset="0"/>
              </a:rPr>
            </a:br>
            <a:br>
              <a:rPr lang="en-US" sz="6000" dirty="0">
                <a:solidFill>
                  <a:srgbClr val="FFFF00"/>
                </a:solidFill>
                <a:latin typeface="Britannic Bold" panose="020B0903060703020204" pitchFamily="34" charset="0"/>
              </a:rPr>
            </a:br>
            <a:r>
              <a:rPr lang="en-US" sz="4400" dirty="0">
                <a:solidFill>
                  <a:srgbClr val="FFFF00"/>
                </a:solidFill>
                <a:latin typeface="Britannic Bold" panose="020B0903060703020204" pitchFamily="34" charset="0"/>
              </a:rPr>
              <a:t>Entertainment!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7E56D-3C21-4FE1-972A-309AB253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E1F9-1EDB-49AA-A3FA-484D200DC4C5}" type="datetime1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AF43D-840E-4405-996B-9B837658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F9AEB-9D6C-488B-8BCF-4BF768C2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0DC9-6AC2-4957-ACF5-8988C485B84C}" type="slidenum">
              <a:rPr lang="en-US" smtClean="0"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A8DA36-60D8-4F0D-9F6E-BA88C043D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563" y="66039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Content Placeholder 4" descr="Entertainment without engineers.jpg">
            <a:extLst>
              <a:ext uri="{FF2B5EF4-FFF2-40B4-BE49-F238E27FC236}">
                <a16:creationId xmlns:a16="http://schemas.microsoft.com/office/drawing/2014/main" id="{DDECB254-F7D6-406D-8A0B-2C6870C1D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75066" y="1994533"/>
            <a:ext cx="5325035" cy="4114800"/>
          </a:xfrm>
        </p:spPr>
      </p:pic>
    </p:spTree>
    <p:extLst>
      <p:ext uri="{BB962C8B-B14F-4D97-AF65-F5344CB8AC3E}">
        <p14:creationId xmlns:p14="http://schemas.microsoft.com/office/powerpoint/2010/main" val="414485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D09AF-3BA1-411F-A4D2-647E28C3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3458-7FA1-49C5-9D00-1FF5EDCDF572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2E3C2-94FF-4B20-A724-4501A44C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46F93-13CF-4DB8-8D0F-F7BEDE2C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6CD8-124C-4A11-9B7F-6885AC378B9F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7A23F90-14FC-45EA-B786-455CEDCFBF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4543926"/>
              </p:ext>
            </p:extLst>
          </p:nvPr>
        </p:nvGraphicFramePr>
        <p:xfrm>
          <a:off x="573149" y="123726"/>
          <a:ext cx="11047115" cy="615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E62CD54-6056-4925-A054-7E1DB0A16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563" y="66039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10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CA232DF5-2C1E-4A21-816E-F454BB066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graphicEl>
                                              <a:dgm id="{CA232DF5-2C1E-4A21-816E-F454BB066D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CF9FF178-8A03-4268-A58C-699B04DE1A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graphicEl>
                                              <a:dgm id="{CF9FF178-8A03-4268-A58C-699B04DE1A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D0009668-6DE2-4CF4-8D1C-F209EE56B5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graphicEl>
                                              <a:dgm id="{D0009668-6DE2-4CF4-8D1C-F209EE56B5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E356F199-CDC8-4681-BCD2-EC7F8A942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graphicEl>
                                              <a:dgm id="{E356F199-CDC8-4681-BCD2-EC7F8A942A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 uiExpand="1">
        <p:bldSub>
          <a:bldDgm bld="lvl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536" y="85393"/>
            <a:ext cx="11352392" cy="1732256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Consequences?</a:t>
            </a:r>
            <a:br>
              <a:rPr lang="en-US" sz="6000" b="1" dirty="0">
                <a:latin typeface="Britannic Bold" panose="020B0903060703020204" pitchFamily="34" charset="0"/>
              </a:rPr>
            </a:br>
            <a:r>
              <a:rPr lang="en-US" sz="4800" b="1" dirty="0">
                <a:solidFill>
                  <a:srgbClr val="FFFF00"/>
                </a:solidFill>
                <a:latin typeface="Britannic Bold" panose="020B0903060703020204" pitchFamily="34" charset="0"/>
              </a:rPr>
              <a:t>Sobering Historical Lessons!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807" y="2041311"/>
            <a:ext cx="11138935" cy="4217508"/>
          </a:xfrm>
        </p:spPr>
        <p:txBody>
          <a:bodyPr>
            <a:noAutofit/>
          </a:bodyPr>
          <a:lstStyle/>
          <a:p>
            <a:pPr marL="457189" lvl="1" indent="-457189"/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disasters: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Asbestos was a technological product that inflicted harm on humans!</a:t>
            </a:r>
          </a:p>
          <a:p>
            <a:pPr marL="457189" lvl="1" indent="-457189"/>
            <a:endParaRPr lang="en-US" sz="4000" b="1" u="sng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lvl="1" indent="-457189"/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Uninformed decisions: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99FF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promising Genetically Modified Organisms (GMO) technology was rejected by the public in Europe because of poor public knowledge of its benefits!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29172" y="6355844"/>
            <a:ext cx="546179" cy="365125"/>
          </a:xfrm>
        </p:spPr>
        <p:txBody>
          <a:bodyPr/>
          <a:lstStyle/>
          <a:p>
            <a:fld id="{83869A7F-1C42-48D2-8C4C-16181E22390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CBA73A-59F7-44DA-B7A3-FCB02603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AD2B-3F95-4E14-9244-4A1FC0053AEC}" type="datetime1">
              <a:rPr lang="en-US" smtClean="0"/>
              <a:t>9/28/2022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5E9287-2E43-459C-8D0F-FB4BC3E65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563" y="66039"/>
            <a:ext cx="548403" cy="33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35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D09AF-3BA1-411F-A4D2-647E28C3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B73A-1F51-41DD-A2D3-6E8659F1A7BF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2E3C2-94FF-4B20-A724-4501A44C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46F93-13CF-4DB8-8D0F-F7BEDE2C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6CD8-124C-4A11-9B7F-6885AC378B9F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7A23F90-14FC-45EA-B786-455CEDCFBF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3004443"/>
              </p:ext>
            </p:extLst>
          </p:nvPr>
        </p:nvGraphicFramePr>
        <p:xfrm>
          <a:off x="573149" y="123726"/>
          <a:ext cx="11047115" cy="615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4">
            <a:extLst>
              <a:ext uri="{FF2B5EF4-FFF2-40B4-BE49-F238E27FC236}">
                <a16:creationId xmlns:a16="http://schemas.microsoft.com/office/drawing/2014/main" id="{28CEA25F-23D2-4F66-9551-BD888C56E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80502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19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CA232DF5-2C1E-4A21-816E-F454BB066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graphicEl>
                                              <a:dgm id="{CA232DF5-2C1E-4A21-816E-F454BB066D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CF9FF178-8A03-4268-A58C-699B04DE1A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graphicEl>
                                              <a:dgm id="{CF9FF178-8A03-4268-A58C-699B04DE1A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D0009668-6DE2-4CF4-8D1C-F209EE56B5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graphicEl>
                                              <a:dgm id="{D0009668-6DE2-4CF4-8D1C-F209EE56B5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E356F199-CDC8-4681-BCD2-EC7F8A942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graphicEl>
                                              <a:dgm id="{E356F199-CDC8-4681-BCD2-EC7F8A942A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 uiExpand="1">
        <p:bldSub>
          <a:bldDgm bld="lvl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81" y="228600"/>
            <a:ext cx="11630644" cy="244686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Britannic Bold" panose="020B0903060703020204" pitchFamily="34" charset="0"/>
              </a:rPr>
              <a:t>Conclusion – I</a:t>
            </a:r>
            <a:br>
              <a:rPr lang="en-US" sz="6000" dirty="0">
                <a:latin typeface="Britannic Bold" panose="020B0903060703020204" pitchFamily="34" charset="0"/>
              </a:rPr>
            </a:br>
            <a:r>
              <a:rPr lang="en-US" sz="6000" dirty="0">
                <a:latin typeface="Britannic Bold" panose="020B0903060703020204" pitchFamily="34" charset="0"/>
              </a:rPr>
              <a:t>Engineering ethics are needed because: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876" y="2675466"/>
            <a:ext cx="11630643" cy="3496735"/>
          </a:xfrm>
        </p:spPr>
        <p:txBody>
          <a:bodyPr/>
          <a:lstStyle/>
          <a:p>
            <a:r>
              <a:rPr lang="en-US" sz="4000" b="1" u="sng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Nature: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profession involving managing the unknown for the betterment of human life.</a:t>
            </a:r>
          </a:p>
          <a:p>
            <a:r>
              <a:rPr lang="en-US" sz="4000" b="1" u="sng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Impact:</a:t>
            </a:r>
            <a:r>
              <a:rPr lang="en-US" sz="40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projects are social experiments with high risk factors.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C46-DB10-41CC-8CDE-D4E74B90CBF1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02D31B54-7EF7-4D5D-8B45-835179372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6786" y="54429"/>
            <a:ext cx="467919" cy="32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4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3520" y="228600"/>
            <a:ext cx="11744960" cy="1681480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What are Engineering Ethics?</a:t>
            </a:r>
            <a:br>
              <a:rPr lang="en-US" sz="6000" b="1" dirty="0">
                <a:latin typeface="Britannic Bold" panose="020B0903060703020204" pitchFamily="34" charset="0"/>
              </a:rPr>
            </a:br>
            <a:r>
              <a:rPr lang="en-US" sz="4800" b="1" dirty="0">
                <a:solidFill>
                  <a:srgbClr val="99FF66"/>
                </a:solidFill>
                <a:latin typeface="Britannic Bold" panose="020B0903060703020204" pitchFamily="34" charset="0"/>
              </a:rPr>
              <a:t>Working Definitions - I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574" y="1971042"/>
            <a:ext cx="11603551" cy="4201159"/>
          </a:xfrm>
        </p:spPr>
        <p:txBody>
          <a:bodyPr>
            <a:noAutofit/>
          </a:bodyPr>
          <a:lstStyle/>
          <a:p>
            <a:pPr marL="227008" indent="-227008"/>
            <a:r>
              <a:rPr lang="en-US" sz="36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Ethics:</a:t>
            </a:r>
            <a:r>
              <a:rPr lang="en-US" sz="36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of proper conduct.</a:t>
            </a:r>
          </a:p>
          <a:p>
            <a:pPr marL="227008" indent="-227008"/>
            <a:endParaRPr lang="en-US" sz="3600" b="1" u="sng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008" indent="-227008"/>
            <a:r>
              <a:rPr lang="en-US" sz="36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Morality:</a:t>
            </a:r>
            <a:r>
              <a:rPr lang="en-US" sz="36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of ideals, values, and beliefs, presumably guiding behavior.</a:t>
            </a:r>
          </a:p>
          <a:p>
            <a:pPr marL="227008" indent="-227008"/>
            <a:endParaRPr lang="en-US" sz="3600" b="1" u="sng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008" indent="-227008"/>
            <a:r>
              <a:rPr lang="en-US" sz="3600" b="1" u="sng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Morality: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set of moral ideals shared by most members of a culture or society.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90FD-F8B6-4386-A5CC-19688819ECAA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9B543FF-62E3-4653-AC5E-8CA7745BA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80502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70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029" y="228600"/>
            <a:ext cx="11617097" cy="1371600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Working Definitions - II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8029" y="1828800"/>
            <a:ext cx="11617097" cy="4343400"/>
          </a:xfrm>
        </p:spPr>
        <p:txBody>
          <a:bodyPr>
            <a:normAutofit/>
          </a:bodyPr>
          <a:lstStyle/>
          <a:p>
            <a:pPr marL="227008" indent="-227008"/>
            <a:r>
              <a:rPr lang="en-US" sz="3600" b="1" u="sng" dirty="0">
                <a:solidFill>
                  <a:srgbClr val="00FF00"/>
                </a:solidFill>
                <a:latin typeface="Times New Roman" pitchFamily="18" charset="0"/>
              </a:rPr>
              <a:t>Personal Ethics:</a:t>
            </a:r>
            <a:r>
              <a:rPr lang="en-US" sz="3600" b="1" dirty="0">
                <a:latin typeface="Times New Roman" pitchFamily="18" charset="0"/>
              </a:rPr>
              <a:t> The set of ones own ethical commitments, and conduct towards others, acquired during upbringing and later modified.</a:t>
            </a:r>
          </a:p>
          <a:p>
            <a:r>
              <a:rPr lang="en-US" sz="3600" b="1" u="sng" dirty="0">
                <a:solidFill>
                  <a:srgbClr val="00FF00"/>
                </a:solidFill>
                <a:latin typeface="Times New Roman" pitchFamily="18" charset="0"/>
              </a:rPr>
              <a:t>Professional Ethics:</a:t>
            </a:r>
            <a:r>
              <a:rPr lang="en-US" sz="3600" b="1" dirty="0">
                <a:latin typeface="Times New Roman" pitchFamily="18" charset="0"/>
              </a:rPr>
              <a:t> </a:t>
            </a:r>
            <a:r>
              <a:rPr lang="en-US" sz="3600" b="1" dirty="0">
                <a:solidFill>
                  <a:srgbClr val="FF66FF"/>
                </a:solidFill>
                <a:latin typeface="Times New Roman" pitchFamily="18" charset="0"/>
              </a:rPr>
              <a:t>The set of standards of conduct adopted by professionals.</a:t>
            </a:r>
            <a:r>
              <a:rPr lang="en-US" sz="3600" b="1" u="sng" dirty="0">
                <a:solidFill>
                  <a:srgbClr val="FF66FF"/>
                </a:solidFill>
                <a:latin typeface="Times New Roman" pitchFamily="18" charset="0"/>
              </a:rPr>
              <a:t> </a:t>
            </a:r>
          </a:p>
          <a:p>
            <a:r>
              <a:rPr lang="en-US" sz="3600" b="1" u="sng" dirty="0">
                <a:solidFill>
                  <a:srgbClr val="00FF00"/>
                </a:solidFill>
                <a:latin typeface="Times New Roman" pitchFamily="18" charset="0"/>
              </a:rPr>
              <a:t>Profession Laws:</a:t>
            </a:r>
            <a:r>
              <a:rPr lang="en-US" sz="3600" b="1" dirty="0">
                <a:solidFill>
                  <a:srgbClr val="00FF00"/>
                </a:solidFill>
                <a:latin typeface="Times New Roman" pitchFamily="18" charset="0"/>
              </a:rPr>
              <a:t> </a:t>
            </a:r>
            <a:r>
              <a:rPr lang="en-US" sz="3600" b="1" dirty="0">
                <a:latin typeface="Times New Roman" pitchFamily="18" charset="0"/>
              </a:rPr>
              <a:t>Many laws governing the practice of engineering are ethically based.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20F9-4262-47ED-A69B-48931663A4F4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056AD89-B33F-4B8E-88C2-DA3BFAEC4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80502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07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153400" cy="1143000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Engineering Ethics 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596054" y="1695028"/>
            <a:ext cx="1099989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31769" indent="-231769">
              <a:spcBef>
                <a:spcPct val="20000"/>
              </a:spcBef>
              <a:buClr>
                <a:srgbClr val="00FF00"/>
              </a:buClr>
              <a:buSzPct val="65000"/>
              <a:buFont typeface="Wingdings" pitchFamily="2" charset="2"/>
              <a:buChar char="n"/>
            </a:pPr>
            <a:r>
              <a:rPr lang="en-US" sz="3600" b="1" dirty="0">
                <a:solidFill>
                  <a:srgbClr val="00FF00"/>
                </a:solidFill>
                <a:latin typeface="Times New Roman" pitchFamily="18" charset="0"/>
              </a:rPr>
              <a:t>The set of common standards of conduct, &amp; professional dimensions, shared by engineering professionals.</a:t>
            </a:r>
          </a:p>
          <a:p>
            <a:pPr marL="231769" indent="-231769">
              <a:spcBef>
                <a:spcPct val="20000"/>
              </a:spcBef>
              <a:buClr>
                <a:srgbClr val="00FF00"/>
              </a:buClr>
              <a:buSzPct val="65000"/>
              <a:buFont typeface="Wingdings" pitchFamily="2" charset="2"/>
              <a:buChar char="n"/>
            </a:pPr>
            <a:endParaRPr lang="en-US" sz="3600" b="1" dirty="0">
              <a:solidFill>
                <a:srgbClr val="00FF00"/>
              </a:solidFill>
              <a:latin typeface="Times New Roman" pitchFamily="18" charset="0"/>
            </a:endParaRPr>
          </a:p>
          <a:p>
            <a:pPr marL="231769" indent="-231769">
              <a:spcBef>
                <a:spcPct val="20000"/>
              </a:spcBef>
              <a:buClr>
                <a:srgbClr val="00FF00"/>
              </a:buClr>
              <a:buSzPct val="65000"/>
              <a:buFont typeface="Wingdings" pitchFamily="2" charset="2"/>
              <a:buChar char="n"/>
            </a:pPr>
            <a:r>
              <a:rPr lang="en-US" sz="3600" b="1" dirty="0">
                <a:latin typeface="Times New Roman" pitchFamily="18" charset="0"/>
              </a:rPr>
              <a:t>A framework for ethical judgment and critical analysis for a professional </a:t>
            </a:r>
            <a:r>
              <a:rPr lang="en-US" sz="3600" b="1" i="1" dirty="0">
                <a:solidFill>
                  <a:srgbClr val="FF66FF"/>
                </a:solidFill>
                <a:latin typeface="Times New Roman" pitchFamily="18" charset="0"/>
              </a:rPr>
              <a:t>gathered in a “Code of Ethics” document.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52025-FC70-4DD7-B9FD-032E7E9E6C22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30</a:t>
            </a:fld>
            <a:endParaRPr lang="en-US" dirty="0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2F54DF2D-03F6-443F-9184-9EACF0A01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8743" y="63264"/>
            <a:ext cx="500877" cy="34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19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614" y="152400"/>
            <a:ext cx="11664511" cy="152400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Common Attributes of </a:t>
            </a:r>
            <a:br>
              <a:rPr lang="en-US" sz="6000" b="1" dirty="0">
                <a:latin typeface="Britannic Bold" panose="020B0903060703020204" pitchFamily="34" charset="0"/>
              </a:rPr>
            </a:br>
            <a:r>
              <a:rPr lang="en-US" sz="6000" b="1" dirty="0">
                <a:latin typeface="Britannic Bold" panose="020B0903060703020204" pitchFamily="34" charset="0"/>
              </a:rPr>
              <a:t>Engineering Codes of Ethics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3815" y="1940563"/>
            <a:ext cx="11379200" cy="43434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itchFamily="18" charset="0"/>
              </a:rPr>
              <a:t>A primary </a:t>
            </a:r>
            <a:r>
              <a:rPr lang="en-US" sz="3200" u="sng" dirty="0">
                <a:solidFill>
                  <a:srgbClr val="00FF00"/>
                </a:solidFill>
                <a:latin typeface="Times New Roman" pitchFamily="18" charset="0"/>
              </a:rPr>
              <a:t>obligation</a:t>
            </a:r>
            <a:r>
              <a:rPr lang="en-US" sz="3200" dirty="0">
                <a:latin typeface="Times New Roman" pitchFamily="18" charset="0"/>
              </a:rPr>
              <a:t> to protect the safety and respect the right of consent of human subjects.</a:t>
            </a:r>
          </a:p>
          <a:p>
            <a:r>
              <a:rPr lang="en-US" sz="32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 constant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3200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awareness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32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of the experimental nature of any project, imaginative forecasting of its possible side effects, and a reasonable effort to monitor them. 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 </a:t>
            </a:r>
            <a:r>
              <a:rPr lang="en-US" sz="3200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personal involvement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in all steps of a project and accepting </a:t>
            </a:r>
            <a:r>
              <a:rPr lang="en-US" sz="3200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accountability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for the results of a project.</a:t>
            </a:r>
          </a:p>
          <a:p>
            <a:r>
              <a:rPr lang="en-US" sz="32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 framework for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3200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evolving professional issues</a:t>
            </a:r>
            <a:r>
              <a:rPr lang="en-US" sz="32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32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particularly those with societal &amp; human dimensions.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A8CD-2E1D-477B-A6D9-D8F319FF4ABB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31</a:t>
            </a:fld>
            <a:endParaRPr lang="en-US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 rot="19459372">
            <a:off x="1855981" y="2386649"/>
            <a:ext cx="8217281" cy="1953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9" rIns="92075" bIns="46039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ritannic Bold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9pPr>
          </a:lstStyle>
          <a:p>
            <a:r>
              <a:rPr lang="en-US" sz="4800" dirty="0"/>
              <a:t>For any professional engineering code of ethics, there are common attributes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94EE886-FD4D-45FB-B313-62B5E4E02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80502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2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  <p:bldP spid="53251" grpId="0" build="p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9629" y="137031"/>
            <a:ext cx="11419839" cy="1676400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Engineering Code of Ethics Functions - I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501228" y="2209800"/>
            <a:ext cx="11243733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38" lvl="1" indent="-514338">
              <a:spcBef>
                <a:spcPct val="20000"/>
              </a:spcBef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en-US" sz="36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An agreement among professionals to abide.</a:t>
            </a:r>
          </a:p>
          <a:p>
            <a:pPr marL="463539" lvl="1" indent="-463539">
              <a:spcBef>
                <a:spcPct val="20000"/>
              </a:spcBef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en-US" sz="3600" b="1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An agreement between professionals and the public to promote public well-being, gain public trust, and stay competent.</a:t>
            </a:r>
          </a:p>
          <a:p>
            <a:pPr marL="463539" lvl="1" indent="-463539">
              <a:spcBef>
                <a:spcPct val="20000"/>
              </a:spcBef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en-US" sz="36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 framework to integrate societal impact and humanity dimensions into engineering activities.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EB37-FE51-4B85-B35A-14EB11641791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32</a:t>
            </a:fld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A7CD1CA7-1138-4455-ABED-5EDB3BB74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8743" y="63264"/>
            <a:ext cx="500877" cy="34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94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6081" y="152400"/>
            <a:ext cx="11433387" cy="1676400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Engineering Code of Ethics Functions - II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09600" y="2628901"/>
            <a:ext cx="10999893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38" lvl="1" indent="-514338">
              <a:spcBef>
                <a:spcPct val="20000"/>
              </a:spcBef>
              <a:buClr>
                <a:schemeClr val="tx1"/>
              </a:buClr>
              <a:buSzPct val="100000"/>
              <a:buFont typeface="+mj-lt"/>
              <a:buAutoNum type="arabicParenR" startAt="4"/>
            </a:pPr>
            <a:r>
              <a:rPr lang="en-US" sz="3600" b="1" dirty="0">
                <a:latin typeface="Times New Roman" pitchFamily="18" charset="0"/>
              </a:rPr>
              <a:t>A medium providing focus for debate on professional ethics evolution</a:t>
            </a:r>
          </a:p>
          <a:p>
            <a:pPr marL="463539" lvl="1" indent="-463539">
              <a:spcBef>
                <a:spcPct val="20000"/>
              </a:spcBef>
              <a:buClr>
                <a:schemeClr val="tx1"/>
              </a:buClr>
              <a:buSzPct val="100000"/>
              <a:buFont typeface="+mj-lt"/>
              <a:buAutoNum type="arabicParenR" startAt="4"/>
            </a:pPr>
            <a:r>
              <a:rPr lang="en-US" sz="3600" b="1" dirty="0">
                <a:solidFill>
                  <a:srgbClr val="00FF00"/>
                </a:solidFill>
                <a:latin typeface="Times New Roman" pitchFamily="18" charset="0"/>
              </a:rPr>
              <a:t>A base to provide rationale for professionals to adhere to professional standards.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628F-EF30-483D-959B-507394B5EDF3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33</a:t>
            </a:fld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9FA564E-ADD4-4214-88CF-A5A758B41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8743" y="63264"/>
            <a:ext cx="500877" cy="34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08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38667" y="455509"/>
            <a:ext cx="11501120" cy="1671320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Therefore:</a:t>
            </a:r>
            <a:br>
              <a:rPr lang="en-US" sz="6000" b="1" dirty="0">
                <a:latin typeface="Britannic Bold" panose="020B0903060703020204" pitchFamily="34" charset="0"/>
              </a:rPr>
            </a:br>
            <a:r>
              <a:rPr lang="en-US" sz="6000" b="1" dirty="0">
                <a:latin typeface="Britannic Bold" panose="020B0903060703020204" pitchFamily="34" charset="0"/>
              </a:rPr>
              <a:t>ENGINEERING RESPONSIBILITY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2512907"/>
            <a:ext cx="7772400" cy="3125893"/>
          </a:xfrm>
          <a:solidFill>
            <a:srgbClr val="FFFF00"/>
          </a:solidFill>
          <a:ln w="15875" cap="flat">
            <a:solidFill>
              <a:srgbClr val="000000"/>
            </a:solidFill>
            <a:prstDash val="dash"/>
          </a:ln>
        </p:spPr>
        <p:txBody>
          <a:bodyPr/>
          <a:lstStyle/>
          <a:p>
            <a:pPr marL="609585" indent="-609585" algn="ctr">
              <a:buNone/>
            </a:pPr>
            <a:r>
              <a:rPr lang="en-US" sz="4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to conform to </a:t>
            </a:r>
          </a:p>
          <a:p>
            <a:pPr marL="609585" indent="-609585" algn="ctr">
              <a:buNone/>
            </a:pPr>
            <a:endParaRPr lang="en-US" sz="48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585" indent="-609585" algn="ctr">
              <a:buNone/>
            </a:pPr>
            <a:r>
              <a:rPr lang="en-US" sz="4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standards </a:t>
            </a:r>
          </a:p>
          <a:p>
            <a:pPr marL="609585" indent="-609585" algn="ctr">
              <a:buNone/>
            </a:pPr>
            <a:r>
              <a:rPr lang="en-US" sz="4800" b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(Technical &amp; Ethical)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7FA8E-9BF5-43E6-8EE2-3A8443F923F0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0C320E9-12A1-4A5E-8C52-3D55DE9F8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38" y="80502"/>
            <a:ext cx="514775" cy="32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41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275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275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2" y="152400"/>
            <a:ext cx="11426612" cy="1371600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Conclusion – II: </a:t>
            </a:r>
            <a:br>
              <a:rPr lang="en-US" sz="6000" b="1" dirty="0">
                <a:latin typeface="Britannic Bold" panose="020B0903060703020204" pitchFamily="34" charset="0"/>
              </a:rPr>
            </a:br>
            <a:r>
              <a:rPr lang="en-US" sz="6000" b="1" dirty="0">
                <a:latin typeface="Britannic Bold" panose="020B0903060703020204" pitchFamily="34" charset="0"/>
              </a:rPr>
              <a:t>Definitions and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709" y="1600200"/>
            <a:ext cx="11637417" cy="457200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Code of Ethics: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shared code of conduct for engineers to protect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public and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profession.</a:t>
            </a:r>
          </a:p>
          <a:p>
            <a:r>
              <a:rPr lang="en-US" sz="3600" b="1" u="sng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Engineering responsibility:</a:t>
            </a:r>
            <a:r>
              <a:rPr lang="en-US" sz="3600" b="1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to conform to technical and ethical standards.</a:t>
            </a:r>
          </a:p>
          <a:p>
            <a:endParaRPr lang="en-US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Code of Ethics is </a:t>
            </a:r>
            <a:r>
              <a:rPr lang="en-US" sz="3600" b="1" u="sng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different than</a:t>
            </a: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personal morality, personal ethics, and religious beliefs.  </a:t>
            </a:r>
          </a:p>
          <a:p>
            <a:endParaRPr lang="en-US" sz="36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EE8E2-46F3-4E8E-99E6-4F21F42D8F8D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FF43-C2B3-44C2-B71C-2A2B356D1769}" type="slidenum">
              <a:rPr lang="en-US" smtClean="0"/>
              <a:t>35</a:t>
            </a:fld>
            <a:endParaRPr lang="en-US" dirty="0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5C51F68F-328D-48AA-B132-7A37AE322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6786" y="67977"/>
            <a:ext cx="467919" cy="32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82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42" y="124001"/>
            <a:ext cx="10600793" cy="123340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Goal of Engineering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591" y="1325693"/>
            <a:ext cx="11369892" cy="48768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moral responsibility.</a:t>
            </a:r>
          </a:p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to stop technology, but ...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educate stakeholders (including Engineers):</a:t>
            </a:r>
          </a:p>
          <a:p>
            <a:pPr lvl="1"/>
            <a:r>
              <a:rPr lang="en-US" sz="36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development (engineering) is a social experiment that incorporates many unknowns</a:t>
            </a:r>
          </a:p>
          <a:p>
            <a:pPr lvl="1"/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 of ethical, societal, and human related issues impacted by the profession</a:t>
            </a:r>
          </a:p>
          <a:p>
            <a:pPr lvl="1"/>
            <a:r>
              <a:rPr lang="en-US" sz="3600" b="1" dirty="0">
                <a:solidFill>
                  <a:srgbClr val="99FF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Professionals’ role and responsibility.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1575" y="6310403"/>
            <a:ext cx="562744" cy="365125"/>
          </a:xfrm>
        </p:spPr>
        <p:txBody>
          <a:bodyPr/>
          <a:lstStyle/>
          <a:p>
            <a:fld id="{B27DD7B2-9500-43B0-8CC7-2BF400486F4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937A6-B274-4855-BD29-7F256D84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C59E-F58C-416A-A920-52A7526A59E7}" type="datetime1">
              <a:rPr lang="en-US" smtClean="0"/>
              <a:t>9/28/2022</a:t>
            </a:fld>
            <a:endParaRPr lang="en-US"/>
          </a:p>
        </p:txBody>
      </p:sp>
      <p:pic>
        <p:nvPicPr>
          <p:cNvPr id="11" name="Picture 8" descr="Does Science Have Limits? - bethinking.org">
            <a:extLst>
              <a:ext uri="{FF2B5EF4-FFF2-40B4-BE49-F238E27FC236}">
                <a16:creationId xmlns:a16="http://schemas.microsoft.com/office/drawing/2014/main" id="{7FD53A2B-8009-4090-A8A3-B05A839CC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027" y="1868429"/>
            <a:ext cx="1388939" cy="50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04A4A806-0F4A-4278-A89E-29BEE586D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8743" y="63264"/>
            <a:ext cx="500877" cy="34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94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1" y="209199"/>
            <a:ext cx="11448936" cy="1524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Britannic Bold" panose="020B0903060703020204" pitchFamily="34" charset="0"/>
              </a:rPr>
              <a:t>Engineers’ Professional  Responsibility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24922" y="6283676"/>
            <a:ext cx="516361" cy="365125"/>
          </a:xfrm>
        </p:spPr>
        <p:txBody>
          <a:bodyPr/>
          <a:lstStyle/>
          <a:p>
            <a:fld id="{B27DD7B2-9500-43B0-8CC7-2BF400486F4B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6BCE-7CF4-4AD5-B182-A3E1408B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98C8-5BE4-4DA4-8443-C95B3458E0C2}" type="datetime1">
              <a:rPr lang="en-US" smtClean="0"/>
              <a:t>9/28/2022</a:t>
            </a:fld>
            <a:endParaRPr lang="en-US"/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2054F49B-3BF2-4A51-BEFD-E7CD298F4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159009"/>
              </p:ext>
            </p:extLst>
          </p:nvPr>
        </p:nvGraphicFramePr>
        <p:xfrm>
          <a:off x="698580" y="1862878"/>
          <a:ext cx="10830811" cy="4355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C9D410C0-5BCF-4963-97C2-2C079F93D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440" y="62524"/>
            <a:ext cx="651997" cy="39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2FA7F5F9-1499-4004-A29A-5102CC3187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graphicEl>
                                              <a:dgm id="{2FA7F5F9-1499-4004-A29A-5102CC3187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5BA844C2-7389-4680-9DF6-99F6F9CB13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graphicEl>
                                              <a:dgm id="{5BA844C2-7389-4680-9DF6-99F6F9CB13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13E8627A-C9B4-48DC-876E-5CD778F65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graphicEl>
                                              <a:dgm id="{13E8627A-C9B4-48DC-876E-5CD778F65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0A3ECFB2-C942-426D-93A4-F22313D92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graphicEl>
                                              <a:dgm id="{0A3ECFB2-C942-426D-93A4-F22313D92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5BAEB274-935A-48AF-AF45-C610F8864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graphicEl>
                                              <a:dgm id="{5BAEB274-935A-48AF-AF45-C610F88640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1371600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Conclusion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A7F-1C42-48D2-8C4C-16181E22390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490291F-3A85-40F3-BB14-86968296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BC29-A48F-4C8C-AB2D-10DD57396CB4}" type="datetime1">
              <a:rPr lang="en-US" smtClean="0"/>
              <a:t>9/28/2022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0A31B1-5466-4F9B-BFCD-C427A41D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693" y="1293707"/>
            <a:ext cx="11506200" cy="503373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is a profession that is vital for human life and society.  </a:t>
            </a:r>
          </a:p>
          <a:p>
            <a:r>
              <a:rPr lang="en-US" sz="36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trust in exchange for self-regulation.</a:t>
            </a:r>
          </a:p>
          <a:p>
            <a:r>
              <a:rPr lang="en-US" sz="3600" b="1" dirty="0">
                <a:solidFill>
                  <a:srgbClr val="99FF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responsibility is embedded in engineering ethics.</a:t>
            </a:r>
          </a:p>
          <a:p>
            <a:r>
              <a:rPr lang="en-US" sz="3600" b="1" dirty="0">
                <a:solidFill>
                  <a:srgbClr val="FF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and societal interaction with engineering and technology is reciprocal.</a:t>
            </a:r>
          </a:p>
          <a:p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ethics provides a larger framework than just doing the right thing.</a:t>
            </a:r>
          </a:p>
        </p:txBody>
      </p:sp>
      <p:pic>
        <p:nvPicPr>
          <p:cNvPr id="10" name="Picture 12">
            <a:extLst>
              <a:ext uri="{FF2B5EF4-FFF2-40B4-BE49-F238E27FC236}">
                <a16:creationId xmlns:a16="http://schemas.microsoft.com/office/drawing/2014/main" id="{F58FE66A-68AC-45EE-A2CC-3EBA646AB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6786" y="54429"/>
            <a:ext cx="467919" cy="32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23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928" y="145472"/>
            <a:ext cx="9982200" cy="1759527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Top 5 signs you are an engineer in the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291" y="2098965"/>
            <a:ext cx="10661073" cy="52647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dream is to build a robot to solve your homework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34291" y="2632364"/>
            <a:ext cx="10661073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514338" indent="-514338" defTabSz="914377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+mj-lt"/>
              <a:buAutoNum type="arabicPeriod" startAt="2"/>
              <a:defRPr/>
            </a:pPr>
            <a:r>
              <a:rPr lang="en-US" sz="3200" b="1" kern="0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know what “www” and/or “http” means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34291" y="3241964"/>
            <a:ext cx="10661073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514338" indent="-514338" defTabSz="914377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+mj-lt"/>
              <a:buAutoNum type="arabicPeriod" startAt="3"/>
              <a:defRPr/>
            </a:pPr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can’t quite find out what math is made for but you are good at it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34291" y="4232564"/>
            <a:ext cx="10661073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514338" indent="-514338" defTabSz="914377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+mj-lt"/>
              <a:buAutoNum type="arabicPeriod" startAt="4"/>
              <a:defRPr/>
            </a:pPr>
            <a:r>
              <a:rPr lang="en-US" sz="3200" b="1" kern="0" dirty="0">
                <a:solidFill>
                  <a:srgbClr val="2DFF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family wont let you near electricity, devices, or car engines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34291" y="5146964"/>
            <a:ext cx="1066107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514338" indent="-514338" defTabSz="914377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+mj-lt"/>
              <a:buAutoNum type="arabicPeriod" startAt="5"/>
              <a:defRPr/>
            </a:pPr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younger age, all the toys in your toy box were in whole separate pieces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DADDA-0A1D-4495-A0E0-C74FB37B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Dr. Nael Barakat, All rights reserved - Seminar Introduction to Engineering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4C8AC1-02EF-499A-83ED-93A53C85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4C3A-36BE-4639-8FB6-8609C7FE8A68}" type="datetime1">
              <a:rPr lang="en-US" smtClean="0"/>
              <a:t>9/28/2022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F0F6B1-659C-4A88-B3EC-02CC18AE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A7F-1C42-48D2-8C4C-16181E22390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8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  <p:bldP spid="6" grpId="0" build="p"/>
      <p:bldP spid="7" grpId="0" build="p"/>
      <p:bldP spid="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67000"/>
            <a:ext cx="6477000" cy="1371600"/>
          </a:xfrm>
        </p:spPr>
        <p:txBody>
          <a:bodyPr>
            <a:noAutofit/>
          </a:bodyPr>
          <a:lstStyle/>
          <a:p>
            <a:r>
              <a:rPr lang="en-US" sz="7200" dirty="0">
                <a:latin typeface="Britannic Bold" panose="020B0903060703020204" pitchFamily="34" charset="0"/>
              </a:rPr>
              <a:t>Questions?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2022, Engineering Ethics and Societal Impact - Dr. N. Barakat,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69A7F-1C42-48D2-8C4C-16181E22390E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391400" y="231777"/>
          <a:ext cx="2482851" cy="449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439988" imgH="4413250" progId="">
                  <p:embed/>
                </p:oleObj>
              </mc:Choice>
              <mc:Fallback>
                <p:oleObj name="Clip" r:id="rId2" imgW="2439988" imgH="4413250" progId="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31777"/>
                        <a:ext cx="2482851" cy="449262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  <a:lumOff val="2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960CC3-741F-4C89-B46C-4D207FFD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A58C-F73A-4456-B1A3-055DD41C2262}" type="datetime1">
              <a:rPr lang="en-US" smtClean="0"/>
              <a:t>9/28/2022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5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1_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20995</TotalTime>
  <Words>2487</Words>
  <Application>Microsoft Office PowerPoint</Application>
  <PresentationFormat>Widescreen</PresentationFormat>
  <Paragraphs>329</Paragraphs>
  <Slides>40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Arial</vt:lpstr>
      <vt:lpstr>Britannic Bold</vt:lpstr>
      <vt:lpstr>Calibri</vt:lpstr>
      <vt:lpstr>Calisto MT</vt:lpstr>
      <vt:lpstr>Century Gothic</vt:lpstr>
      <vt:lpstr>Garamond</vt:lpstr>
      <vt:lpstr>Ravie</vt:lpstr>
      <vt:lpstr>Times New Roman</vt:lpstr>
      <vt:lpstr>Wingdings</vt:lpstr>
      <vt:lpstr>Vapor Trail</vt:lpstr>
      <vt:lpstr>1_Vapor Trail</vt:lpstr>
      <vt:lpstr>Clip</vt:lpstr>
      <vt:lpstr>Engineering Ethics and Societal Impact</vt:lpstr>
      <vt:lpstr>Agenda</vt:lpstr>
      <vt:lpstr>Do we know something about professions?</vt:lpstr>
      <vt:lpstr>What about Engineering?</vt:lpstr>
      <vt:lpstr>What Do Engineers Really Do?</vt:lpstr>
      <vt:lpstr>Engineering ?</vt:lpstr>
      <vt:lpstr>Definition of Engineering</vt:lpstr>
      <vt:lpstr>Why become an Engineer?</vt:lpstr>
      <vt:lpstr>Context of Engineering</vt:lpstr>
      <vt:lpstr>Impact?</vt:lpstr>
      <vt:lpstr>Example:  The “FORD PINTO”</vt:lpstr>
      <vt:lpstr>The “FORD PINTO” Case </vt:lpstr>
      <vt:lpstr>Ford Pinto Tests</vt:lpstr>
      <vt:lpstr>The “FORD PINTO” Case</vt:lpstr>
      <vt:lpstr>The FORD PINTO Case</vt:lpstr>
      <vt:lpstr>Reaction … !</vt:lpstr>
      <vt:lpstr>The dilemma of The Ford Pinto Case</vt:lpstr>
      <vt:lpstr>The Engineering Profession - I</vt:lpstr>
      <vt:lpstr>The Engineering Profession - II</vt:lpstr>
      <vt:lpstr>PowerPoint Presentation</vt:lpstr>
      <vt:lpstr>Does Technology Really influence human life &amp; society?</vt:lpstr>
      <vt:lpstr>Reality: Here is the World without Engineering  Computers!</vt:lpstr>
      <vt:lpstr>Reality: Here is the World without Engineering  Entertainment!</vt:lpstr>
      <vt:lpstr>PowerPoint Presentation</vt:lpstr>
      <vt:lpstr>Consequences? Sobering Historical Lessons!</vt:lpstr>
      <vt:lpstr>PowerPoint Presentation</vt:lpstr>
      <vt:lpstr>Conclusion – I Engineering ethics are needed because:</vt:lpstr>
      <vt:lpstr>What are Engineering Ethics? Working Definitions - I</vt:lpstr>
      <vt:lpstr>Working Definitions - II</vt:lpstr>
      <vt:lpstr>Engineering Ethics </vt:lpstr>
      <vt:lpstr>Common Attributes of  Engineering Codes of Ethics</vt:lpstr>
      <vt:lpstr>Engineering Code of Ethics Functions - I</vt:lpstr>
      <vt:lpstr>Engineering Code of Ethics Functions - II</vt:lpstr>
      <vt:lpstr>Therefore: ENGINEERING RESPONSIBILITY</vt:lpstr>
      <vt:lpstr>Conclusion – II:  Definitions and Concepts</vt:lpstr>
      <vt:lpstr>Goal of Engineering Ethics</vt:lpstr>
      <vt:lpstr>Engineers’ Professional  Responsibility</vt:lpstr>
      <vt:lpstr>Conclusion</vt:lpstr>
      <vt:lpstr>Top 5 signs you are an engineer in the making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Contemporary Professional Issues in Engineering</dc:title>
  <dc:creator>Nael Barakat</dc:creator>
  <cp:lastModifiedBy>Nael Barakat</cp:lastModifiedBy>
  <cp:revision>186</cp:revision>
  <dcterms:created xsi:type="dcterms:W3CDTF">2021-05-26T03:04:57Z</dcterms:created>
  <dcterms:modified xsi:type="dcterms:W3CDTF">2022-09-28T14:21:29Z</dcterms:modified>
</cp:coreProperties>
</file>